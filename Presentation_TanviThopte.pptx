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4"/>
  </p:sldMasterIdLst>
  <p:notesMasterIdLst>
    <p:notesMasterId r:id="rId18"/>
  </p:notesMasterIdLst>
  <p:handoutMasterIdLst>
    <p:handoutMasterId r:id="rId19"/>
  </p:handoutMasterIdLst>
  <p:sldIdLst>
    <p:sldId id="1940" r:id="rId5"/>
    <p:sldId id="1941" r:id="rId6"/>
    <p:sldId id="1935" r:id="rId7"/>
    <p:sldId id="1924" r:id="rId8"/>
    <p:sldId id="1942" r:id="rId9"/>
    <p:sldId id="1947" r:id="rId10"/>
    <p:sldId id="1939" r:id="rId11"/>
    <p:sldId id="1943" r:id="rId12"/>
    <p:sldId id="1944" r:id="rId13"/>
    <p:sldId id="1945" r:id="rId14"/>
    <p:sldId id="1946" r:id="rId15"/>
    <p:sldId id="1877" r:id="rId16"/>
    <p:sldId id="192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4E3"/>
    <a:srgbClr val="F88DC2"/>
    <a:srgbClr val="12D6FF"/>
    <a:srgbClr val="FF7676"/>
    <a:srgbClr val="360071"/>
    <a:srgbClr val="6A1F60"/>
    <a:srgbClr val="CA4F67"/>
    <a:srgbClr val="0796D0"/>
    <a:srgbClr val="C60B68"/>
    <a:srgbClr val="F7D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5042" autoAdjust="0"/>
  </p:normalViewPr>
  <p:slideViewPr>
    <p:cSldViewPr snapToGrid="0">
      <p:cViewPr>
        <p:scale>
          <a:sx n="75" d="100"/>
          <a:sy n="75" d="100"/>
        </p:scale>
        <p:origin x="946" y="1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3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D96772-9817-D32D-CFDB-4082AEA13D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6172B-8397-3A88-9BA7-9C3DBC65BB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828F9-B03F-44CA-BF33-27494910E999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08E2D-8C3D-B8DD-3F2A-AA9AE2C326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C741F-C3B9-696C-07A4-6B6C6E1BE0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5BC5F-DD29-48CA-B1A9-365C6504E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2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5F59B-C668-4011-983E-F315D5C6132D}" type="datetimeFigureOut">
              <a:rPr lang="en-US" smtClean="0"/>
              <a:t>12/5/2024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F99F9-2769-4C52-8EE2-7278119F0A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925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54B0A-6AA6-735B-5F84-9D3F984EA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11719-7292-B8B8-3C35-BB17A55CC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92325-097D-13AC-2CE3-2BC789794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7778E-DACB-EDA3-9942-EEBBF54EB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F99F9-2769-4C52-8EE2-7278119F0A1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893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F99F9-2769-4C52-8EE2-7278119F0A1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059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EEB2B-EE19-50F1-F714-F7174D369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FB2B4-6FD4-896E-5136-D243FB3CB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9BC69-C608-F07E-54E7-4A5A8D66B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4691D-349D-6F08-ED15-E5989EF80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F99F9-2769-4C52-8EE2-7278119F0A1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201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A03A7DE-E2C6-D3DE-2D3C-0E50AB453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348" y="822701"/>
            <a:ext cx="5439251" cy="5439251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9155AC3-4048-A012-522F-9975DD437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52413" y="1318559"/>
            <a:ext cx="389835" cy="389835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6BC318-7E9C-A53F-C445-78301FFF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841" y="5012346"/>
            <a:ext cx="837678" cy="837678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EC2B4886-6DF6-0A57-7118-513A7AAA4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53347" y="0"/>
            <a:ext cx="1499066" cy="1061910"/>
          </a:xfrm>
          <a:custGeom>
            <a:avLst/>
            <a:gdLst>
              <a:gd name="connsiteX0" fmla="*/ 70097 w 1499066"/>
              <a:gd name="connsiteY0" fmla="*/ 0 h 1061910"/>
              <a:gd name="connsiteX1" fmla="*/ 1428969 w 1499066"/>
              <a:gd name="connsiteY1" fmla="*/ 0 h 1061910"/>
              <a:gd name="connsiteX2" fmla="*/ 1440164 w 1499066"/>
              <a:gd name="connsiteY2" fmla="*/ 20625 h 1061910"/>
              <a:gd name="connsiteX3" fmla="*/ 1499066 w 1499066"/>
              <a:gd name="connsiteY3" fmla="*/ 312377 h 1061910"/>
              <a:gd name="connsiteX4" fmla="*/ 749533 w 1499066"/>
              <a:gd name="connsiteY4" fmla="*/ 1061910 h 1061910"/>
              <a:gd name="connsiteX5" fmla="*/ 0 w 1499066"/>
              <a:gd name="connsiteY5" fmla="*/ 312377 h 1061910"/>
              <a:gd name="connsiteX6" fmla="*/ 58902 w 1499066"/>
              <a:gd name="connsiteY6" fmla="*/ 20625 h 1061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9066" h="1061910">
                <a:moveTo>
                  <a:pt x="70097" y="0"/>
                </a:moveTo>
                <a:lnTo>
                  <a:pt x="1428969" y="0"/>
                </a:lnTo>
                <a:lnTo>
                  <a:pt x="1440164" y="20625"/>
                </a:lnTo>
                <a:cubicBezTo>
                  <a:pt x="1478092" y="110298"/>
                  <a:pt x="1499066" y="208888"/>
                  <a:pt x="1499066" y="312377"/>
                </a:cubicBezTo>
                <a:cubicBezTo>
                  <a:pt x="1499066" y="726333"/>
                  <a:pt x="1163489" y="1061910"/>
                  <a:pt x="749533" y="1061910"/>
                </a:cubicBezTo>
                <a:cubicBezTo>
                  <a:pt x="335577" y="1061910"/>
                  <a:pt x="0" y="726333"/>
                  <a:pt x="0" y="312377"/>
                </a:cubicBezTo>
                <a:cubicBezTo>
                  <a:pt x="0" y="208888"/>
                  <a:pt x="20974" y="110298"/>
                  <a:pt x="58902" y="20625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F993BB-6145-4D1C-B438-D1350312F1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216" y="2130552"/>
            <a:ext cx="4590288" cy="1764792"/>
          </a:xfrm>
        </p:spPr>
        <p:txBody>
          <a:bodyPr anchor="t">
            <a:noAutofit/>
          </a:bodyPr>
          <a:lstStyle>
            <a:lvl1pPr>
              <a:defRPr sz="5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4030515-78CF-D472-B3D6-9EE48BCA26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8598" y="3895344"/>
            <a:ext cx="4591906" cy="1024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0EBEF97-3620-43B4-9D9A-099216F753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5840" y="1316736"/>
            <a:ext cx="4325112" cy="4325112"/>
          </a:xfrm>
          <a:noFill/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96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Media Placeholder 15">
            <a:extLst>
              <a:ext uri="{FF2B5EF4-FFF2-40B4-BE49-F238E27FC236}">
                <a16:creationId xmlns:a16="http://schemas.microsoft.com/office/drawing/2014/main" id="{0D165AF2-A462-FCF3-81AE-ADB955740CCB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640080" y="1847088"/>
            <a:ext cx="7424928" cy="3776472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add media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5CA8910C-D8ED-5254-9603-C499A3F69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483077" y="1921304"/>
            <a:ext cx="5708922" cy="4941678"/>
          </a:xfrm>
          <a:custGeom>
            <a:avLst/>
            <a:gdLst>
              <a:gd name="connsiteX0" fmla="*/ 2681883 w 4953666"/>
              <a:gd name="connsiteY0" fmla="*/ 4293658 h 4294315"/>
              <a:gd name="connsiteX1" fmla="*/ 2962801 w 4953666"/>
              <a:gd name="connsiteY1" fmla="*/ 4285537 h 4294315"/>
              <a:gd name="connsiteX2" fmla="*/ 4834127 w 4953666"/>
              <a:gd name="connsiteY2" fmla="*/ 3330444 h 4294315"/>
              <a:gd name="connsiteX3" fmla="*/ 4953666 w 4953666"/>
              <a:gd name="connsiteY3" fmla="*/ 3175947 h 4294315"/>
              <a:gd name="connsiteX4" fmla="*/ 4953666 w 4953666"/>
              <a:gd name="connsiteY4" fmla="*/ 0 h 4294315"/>
              <a:gd name="connsiteX5" fmla="*/ 481203 w 4953666"/>
              <a:gd name="connsiteY5" fmla="*/ 0 h 4294315"/>
              <a:gd name="connsiteX6" fmla="*/ 354529 w 4953666"/>
              <a:gd name="connsiteY6" fmla="*/ 200752 h 4294315"/>
              <a:gd name="connsiteX7" fmla="*/ 8771 w 4953666"/>
              <a:gd name="connsiteY7" fmla="*/ 1767440 h 4294315"/>
              <a:gd name="connsiteX8" fmla="*/ 2681883 w 4953666"/>
              <a:gd name="connsiteY8" fmla="*/ 4293658 h 4294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53666" h="4294315">
                <a:moveTo>
                  <a:pt x="2681883" y="4293658"/>
                </a:moveTo>
                <a:cubicBezTo>
                  <a:pt x="2774620" y="4295683"/>
                  <a:pt x="2868342" y="4293047"/>
                  <a:pt x="2962801" y="4285537"/>
                </a:cubicBezTo>
                <a:cubicBezTo>
                  <a:pt x="3718476" y="4225460"/>
                  <a:pt x="4378268" y="3864871"/>
                  <a:pt x="4834127" y="3330444"/>
                </a:cubicBezTo>
                <a:lnTo>
                  <a:pt x="4953666" y="3175947"/>
                </a:lnTo>
                <a:lnTo>
                  <a:pt x="4953666" y="0"/>
                </a:lnTo>
                <a:lnTo>
                  <a:pt x="481203" y="0"/>
                </a:lnTo>
                <a:lnTo>
                  <a:pt x="354529" y="200752"/>
                </a:lnTo>
                <a:cubicBezTo>
                  <a:pt x="94175" y="660824"/>
                  <a:pt x="-36273" y="1200867"/>
                  <a:pt x="8771" y="1767440"/>
                </a:cubicBezTo>
                <a:cubicBezTo>
                  <a:pt x="121380" y="3183873"/>
                  <a:pt x="1290828" y="4263270"/>
                  <a:pt x="2681883" y="429365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0FCE207E-49DC-89F0-6C2E-AEDEB1A66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01466" y="1425943"/>
            <a:ext cx="990534" cy="1329158"/>
          </a:xfrm>
          <a:custGeom>
            <a:avLst/>
            <a:gdLst>
              <a:gd name="connsiteX0" fmla="*/ 664579 w 990534"/>
              <a:gd name="connsiteY0" fmla="*/ 0 h 1329158"/>
              <a:gd name="connsiteX1" fmla="*/ 923263 w 990534"/>
              <a:gd name="connsiteY1" fmla="*/ 52226 h 1329158"/>
              <a:gd name="connsiteX2" fmla="*/ 990534 w 990534"/>
              <a:gd name="connsiteY2" fmla="*/ 88739 h 1329158"/>
              <a:gd name="connsiteX3" fmla="*/ 990534 w 990534"/>
              <a:gd name="connsiteY3" fmla="*/ 1240419 h 1329158"/>
              <a:gd name="connsiteX4" fmla="*/ 923263 w 990534"/>
              <a:gd name="connsiteY4" fmla="*/ 1276932 h 1329158"/>
              <a:gd name="connsiteX5" fmla="*/ 664579 w 990534"/>
              <a:gd name="connsiteY5" fmla="*/ 1329158 h 1329158"/>
              <a:gd name="connsiteX6" fmla="*/ 0 w 990534"/>
              <a:gd name="connsiteY6" fmla="*/ 664579 h 1329158"/>
              <a:gd name="connsiteX7" fmla="*/ 664579 w 990534"/>
              <a:gd name="connsiteY7" fmla="*/ 0 h 132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534" h="1329158">
                <a:moveTo>
                  <a:pt x="664579" y="0"/>
                </a:moveTo>
                <a:cubicBezTo>
                  <a:pt x="756338" y="0"/>
                  <a:pt x="843754" y="18597"/>
                  <a:pt x="923263" y="52226"/>
                </a:cubicBezTo>
                <a:lnTo>
                  <a:pt x="990534" y="88739"/>
                </a:lnTo>
                <a:lnTo>
                  <a:pt x="990534" y="1240419"/>
                </a:lnTo>
                <a:lnTo>
                  <a:pt x="923263" y="1276932"/>
                </a:lnTo>
                <a:cubicBezTo>
                  <a:pt x="843754" y="1310562"/>
                  <a:pt x="756338" y="1329158"/>
                  <a:pt x="664579" y="1329158"/>
                </a:cubicBezTo>
                <a:cubicBezTo>
                  <a:pt x="297542" y="1329158"/>
                  <a:pt x="0" y="1031616"/>
                  <a:pt x="0" y="664579"/>
                </a:cubicBezTo>
                <a:cubicBezTo>
                  <a:pt x="0" y="297542"/>
                  <a:pt x="297542" y="0"/>
                  <a:pt x="664579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2480" y="2715768"/>
            <a:ext cx="3364992" cy="301752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919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  <p15:guide id="3" orient="horz" pos="355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lis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rm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D76C9A2-7310-AC9A-D74B-465F4A04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2029" y="3432619"/>
            <a:ext cx="3586781" cy="3425381"/>
          </a:xfrm>
          <a:custGeom>
            <a:avLst/>
            <a:gdLst>
              <a:gd name="connsiteX0" fmla="*/ 2057400 w 3586781"/>
              <a:gd name="connsiteY0" fmla="*/ 0 h 3425381"/>
              <a:gd name="connsiteX1" fmla="*/ 3512202 w 3586781"/>
              <a:gd name="connsiteY1" fmla="*/ 602599 h 3425381"/>
              <a:gd name="connsiteX2" fmla="*/ 3586781 w 3586781"/>
              <a:gd name="connsiteY2" fmla="*/ 684657 h 3425381"/>
              <a:gd name="connsiteX3" fmla="*/ 3586781 w 3586781"/>
              <a:gd name="connsiteY3" fmla="*/ 3425381 h 3425381"/>
              <a:gd name="connsiteX4" fmla="*/ 523691 w 3586781"/>
              <a:gd name="connsiteY4" fmla="*/ 3425381 h 3425381"/>
              <a:gd name="connsiteX5" fmla="*/ 469810 w 3586781"/>
              <a:gd name="connsiteY5" fmla="*/ 3366098 h 3425381"/>
              <a:gd name="connsiteX6" fmla="*/ 0 w 3586781"/>
              <a:gd name="connsiteY6" fmla="*/ 2057400 h 3425381"/>
              <a:gd name="connsiteX7" fmla="*/ 2057400 w 3586781"/>
              <a:gd name="connsiteY7" fmla="*/ 0 h 34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6781" h="3425381">
                <a:moveTo>
                  <a:pt x="2057400" y="0"/>
                </a:moveTo>
                <a:cubicBezTo>
                  <a:pt x="2625535" y="0"/>
                  <a:pt x="3139885" y="230282"/>
                  <a:pt x="3512202" y="602599"/>
                </a:cubicBezTo>
                <a:lnTo>
                  <a:pt x="3586781" y="684657"/>
                </a:lnTo>
                <a:lnTo>
                  <a:pt x="3586781" y="3425381"/>
                </a:lnTo>
                <a:lnTo>
                  <a:pt x="523691" y="3425381"/>
                </a:lnTo>
                <a:lnTo>
                  <a:pt x="469810" y="3366098"/>
                </a:lnTo>
                <a:cubicBezTo>
                  <a:pt x="176310" y="3010458"/>
                  <a:pt x="0" y="2554519"/>
                  <a:pt x="0" y="2057400"/>
                </a:cubicBezTo>
                <a:cubicBezTo>
                  <a:pt x="0" y="921129"/>
                  <a:pt x="921129" y="0"/>
                  <a:pt x="2057400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7F2D7-0500-18AD-893F-3BFF96B9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622" y="1953365"/>
            <a:ext cx="5149695" cy="368455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B05A4D-E9FB-4913-E53E-1DE2DC2D9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58269" y="6194361"/>
            <a:ext cx="389835" cy="38983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 1">
            <a:extLst>
              <a:ext uri="{FF2B5EF4-FFF2-40B4-BE49-F238E27FC236}">
                <a16:creationId xmlns:a16="http://schemas.microsoft.com/office/drawing/2014/main" id="{CC1FF5F2-E394-6897-C493-6584D74D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46860" y="-169312"/>
            <a:ext cx="990534" cy="1329158"/>
          </a:xfrm>
          <a:custGeom>
            <a:avLst/>
            <a:gdLst>
              <a:gd name="connsiteX0" fmla="*/ 664579 w 990534"/>
              <a:gd name="connsiteY0" fmla="*/ 0 h 1329158"/>
              <a:gd name="connsiteX1" fmla="*/ 923263 w 990534"/>
              <a:gd name="connsiteY1" fmla="*/ 52226 h 1329158"/>
              <a:gd name="connsiteX2" fmla="*/ 990534 w 990534"/>
              <a:gd name="connsiteY2" fmla="*/ 88739 h 1329158"/>
              <a:gd name="connsiteX3" fmla="*/ 990534 w 990534"/>
              <a:gd name="connsiteY3" fmla="*/ 1240419 h 1329158"/>
              <a:gd name="connsiteX4" fmla="*/ 923263 w 990534"/>
              <a:gd name="connsiteY4" fmla="*/ 1276932 h 1329158"/>
              <a:gd name="connsiteX5" fmla="*/ 664579 w 990534"/>
              <a:gd name="connsiteY5" fmla="*/ 1329158 h 1329158"/>
              <a:gd name="connsiteX6" fmla="*/ 0 w 990534"/>
              <a:gd name="connsiteY6" fmla="*/ 664579 h 1329158"/>
              <a:gd name="connsiteX7" fmla="*/ 664579 w 990534"/>
              <a:gd name="connsiteY7" fmla="*/ 0 h 132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534" h="1329158">
                <a:moveTo>
                  <a:pt x="664579" y="0"/>
                </a:moveTo>
                <a:cubicBezTo>
                  <a:pt x="756338" y="0"/>
                  <a:pt x="843754" y="18597"/>
                  <a:pt x="923263" y="52226"/>
                </a:cubicBezTo>
                <a:lnTo>
                  <a:pt x="990534" y="88739"/>
                </a:lnTo>
                <a:lnTo>
                  <a:pt x="990534" y="1240419"/>
                </a:lnTo>
                <a:lnTo>
                  <a:pt x="923263" y="1276932"/>
                </a:lnTo>
                <a:cubicBezTo>
                  <a:pt x="843754" y="1310562"/>
                  <a:pt x="756338" y="1329158"/>
                  <a:pt x="664579" y="1329158"/>
                </a:cubicBezTo>
                <a:cubicBezTo>
                  <a:pt x="297542" y="1329158"/>
                  <a:pt x="0" y="1031616"/>
                  <a:pt x="0" y="664579"/>
                </a:cubicBezTo>
                <a:cubicBezTo>
                  <a:pt x="0" y="297542"/>
                  <a:pt x="297542" y="0"/>
                  <a:pt x="664579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A8D9022-B854-F233-7BEE-8185E402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3700" y="2891437"/>
            <a:ext cx="4183547" cy="2282229"/>
            <a:chOff x="6448201" y="2832180"/>
            <a:chExt cx="4483608" cy="213969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59528-99D6-5A0F-AEFA-AC4E7BC126D1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283218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A5AD794-5E76-98BF-3FC7-85579E091361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353322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EDD1146-913C-8E63-E619-A08A11AAF125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423426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43E402-60F2-D003-3878-233462D26AA9}"/>
                </a:ext>
              </a:extLst>
            </p:cNvPr>
            <p:cNvCxnSpPr>
              <a:cxnSpLocks/>
            </p:cNvCxnSpPr>
            <p:nvPr/>
          </p:nvCxnSpPr>
          <p:spPr>
            <a:xfrm>
              <a:off x="6454297" y="4971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0478807-656D-4B2C-5C1E-4A08154F6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824131" y="2343177"/>
            <a:ext cx="476768" cy="28304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4.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528" y="2454311"/>
            <a:ext cx="4557428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66D221-FD48-C909-F65B-085F44205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4528" y="3222369"/>
            <a:ext cx="4557428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BD84418-94A8-777A-FEF5-E2B3E93F4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4528" y="3992637"/>
            <a:ext cx="4557428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FF35093-CCA2-ABAA-FBB6-03256FB06B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4528" y="4775296"/>
            <a:ext cx="4557428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8918F9-D4D2-6FB5-B4FD-8FB3A979A2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37376" y="2002536"/>
            <a:ext cx="5120640" cy="368503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67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5AC3F0E-B550-5DF3-6FEE-B1EFAC15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22727" y="3014462"/>
            <a:ext cx="642974" cy="642974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7">
            <a:extLst>
              <a:ext uri="{FF2B5EF4-FFF2-40B4-BE49-F238E27FC236}">
                <a16:creationId xmlns:a16="http://schemas.microsoft.com/office/drawing/2014/main" id="{4B8B6206-1D28-8534-BE4D-6893F8FE6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84620" y="5988532"/>
            <a:ext cx="2953834" cy="883756"/>
          </a:xfrm>
          <a:custGeom>
            <a:avLst/>
            <a:gdLst>
              <a:gd name="connsiteX0" fmla="*/ 1476917 w 2953834"/>
              <a:gd name="connsiteY0" fmla="*/ 0 h 883756"/>
              <a:gd name="connsiteX1" fmla="*/ 2950639 w 2953834"/>
              <a:gd name="connsiteY1" fmla="*/ 877123 h 883756"/>
              <a:gd name="connsiteX2" fmla="*/ 2953834 w 2953834"/>
              <a:gd name="connsiteY2" fmla="*/ 883756 h 883756"/>
              <a:gd name="connsiteX3" fmla="*/ 0 w 2953834"/>
              <a:gd name="connsiteY3" fmla="*/ 883756 h 883756"/>
              <a:gd name="connsiteX4" fmla="*/ 3195 w 2953834"/>
              <a:gd name="connsiteY4" fmla="*/ 877123 h 883756"/>
              <a:gd name="connsiteX5" fmla="*/ 1476917 w 2953834"/>
              <a:gd name="connsiteY5" fmla="*/ 0 h 88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53834" h="883756">
                <a:moveTo>
                  <a:pt x="1476917" y="0"/>
                </a:moveTo>
                <a:cubicBezTo>
                  <a:pt x="2113290" y="0"/>
                  <a:pt x="2666825" y="354669"/>
                  <a:pt x="2950639" y="877123"/>
                </a:cubicBezTo>
                <a:lnTo>
                  <a:pt x="2953834" y="883756"/>
                </a:lnTo>
                <a:lnTo>
                  <a:pt x="0" y="883756"/>
                </a:lnTo>
                <a:lnTo>
                  <a:pt x="3195" y="877123"/>
                </a:lnTo>
                <a:cubicBezTo>
                  <a:pt x="287009" y="354669"/>
                  <a:pt x="840544" y="0"/>
                  <a:pt x="1476917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5405D2-9527-BA12-A7AC-4B93151CC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84620" y="6069965"/>
            <a:ext cx="510053" cy="510053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A0CC5EDC-49D4-6111-36CB-3C8A2D02A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306096" cy="5630799"/>
          </a:xfrm>
          <a:custGeom>
            <a:avLst/>
            <a:gdLst>
              <a:gd name="connsiteX0" fmla="*/ 0 w 6306096"/>
              <a:gd name="connsiteY0" fmla="*/ 0 h 5630799"/>
              <a:gd name="connsiteX1" fmla="*/ 5864035 w 6306096"/>
              <a:gd name="connsiteY1" fmla="*/ 0 h 5630799"/>
              <a:gd name="connsiteX2" fmla="*/ 5927254 w 6306096"/>
              <a:gd name="connsiteY2" fmla="*/ 123434 h 5630799"/>
              <a:gd name="connsiteX3" fmla="*/ 6306096 w 6306096"/>
              <a:gd name="connsiteY3" fmla="*/ 1789009 h 5630799"/>
              <a:gd name="connsiteX4" fmla="*/ 2464306 w 6306096"/>
              <a:gd name="connsiteY4" fmla="*/ 5630799 h 5630799"/>
              <a:gd name="connsiteX5" fmla="*/ 20571 w 6306096"/>
              <a:gd name="connsiteY5" fmla="*/ 4753521 h 5630799"/>
              <a:gd name="connsiteX6" fmla="*/ 0 w 6306096"/>
              <a:gd name="connsiteY6" fmla="*/ 4734825 h 563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6096" h="5630799">
                <a:moveTo>
                  <a:pt x="0" y="0"/>
                </a:moveTo>
                <a:lnTo>
                  <a:pt x="5864035" y="0"/>
                </a:lnTo>
                <a:lnTo>
                  <a:pt x="5927254" y="123434"/>
                </a:lnTo>
                <a:cubicBezTo>
                  <a:pt x="6170039" y="627296"/>
                  <a:pt x="6306096" y="1192264"/>
                  <a:pt x="6306096" y="1789009"/>
                </a:cubicBezTo>
                <a:cubicBezTo>
                  <a:pt x="6306096" y="3910771"/>
                  <a:pt x="4586068" y="5630799"/>
                  <a:pt x="2464306" y="5630799"/>
                </a:cubicBezTo>
                <a:cubicBezTo>
                  <a:pt x="1536035" y="5630799"/>
                  <a:pt x="684659" y="5301575"/>
                  <a:pt x="20571" y="4753521"/>
                </a:cubicBezTo>
                <a:lnTo>
                  <a:pt x="0" y="4734825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" y="2002536"/>
            <a:ext cx="5138928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8918F9-D4D2-6FB5-B4FD-8FB3A979A2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37376" y="2002536"/>
            <a:ext cx="5120640" cy="3685032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522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4">
            <a:extLst>
              <a:ext uri="{FF2B5EF4-FFF2-40B4-BE49-F238E27FC236}">
                <a16:creationId xmlns:a16="http://schemas.microsoft.com/office/drawing/2014/main" id="{82D433C4-79DD-42C5-9147-9E5DDECB6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4421" y="1377730"/>
            <a:ext cx="3658597" cy="5494558"/>
          </a:xfrm>
          <a:custGeom>
            <a:avLst/>
            <a:gdLst>
              <a:gd name="connsiteX0" fmla="*/ 3224347 w 3658597"/>
              <a:gd name="connsiteY0" fmla="*/ 0 h 5494558"/>
              <a:gd name="connsiteX1" fmla="*/ 3554018 w 3658597"/>
              <a:gd name="connsiteY1" fmla="*/ 16647 h 5494558"/>
              <a:gd name="connsiteX2" fmla="*/ 3658597 w 3658597"/>
              <a:gd name="connsiteY2" fmla="*/ 29936 h 5494558"/>
              <a:gd name="connsiteX3" fmla="*/ 3658597 w 3658597"/>
              <a:gd name="connsiteY3" fmla="*/ 5494558 h 5494558"/>
              <a:gd name="connsiteX4" fmla="*/ 935531 w 3658597"/>
              <a:gd name="connsiteY4" fmla="*/ 5494558 h 5494558"/>
              <a:gd name="connsiteX5" fmla="*/ 736284 w 3658597"/>
              <a:gd name="connsiteY5" fmla="*/ 5275331 h 5494558"/>
              <a:gd name="connsiteX6" fmla="*/ 0 w 3658597"/>
              <a:gd name="connsiteY6" fmla="*/ 3224347 h 5494558"/>
              <a:gd name="connsiteX7" fmla="*/ 3224347 w 3658597"/>
              <a:gd name="connsiteY7" fmla="*/ 0 h 549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8597" h="5494558">
                <a:moveTo>
                  <a:pt x="3224347" y="0"/>
                </a:moveTo>
                <a:cubicBezTo>
                  <a:pt x="3335644" y="0"/>
                  <a:pt x="3445625" y="5639"/>
                  <a:pt x="3554018" y="16647"/>
                </a:cubicBezTo>
                <a:lnTo>
                  <a:pt x="3658597" y="29936"/>
                </a:lnTo>
                <a:lnTo>
                  <a:pt x="3658597" y="5494558"/>
                </a:lnTo>
                <a:lnTo>
                  <a:pt x="935531" y="5494558"/>
                </a:lnTo>
                <a:lnTo>
                  <a:pt x="736284" y="5275331"/>
                </a:lnTo>
                <a:cubicBezTo>
                  <a:pt x="276312" y="4717974"/>
                  <a:pt x="0" y="4003429"/>
                  <a:pt x="0" y="3224347"/>
                </a:cubicBezTo>
                <a:cubicBezTo>
                  <a:pt x="0" y="1443589"/>
                  <a:pt x="1443589" y="0"/>
                  <a:pt x="3224347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B6078FDE-6CEC-993E-3339-544DEDA6A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1551" y="0"/>
            <a:ext cx="1175601" cy="1651285"/>
          </a:xfrm>
          <a:custGeom>
            <a:avLst/>
            <a:gdLst>
              <a:gd name="connsiteX0" fmla="*/ 0 w 1858209"/>
              <a:gd name="connsiteY0" fmla="*/ 0 h 2610096"/>
              <a:gd name="connsiteX1" fmla="*/ 1532533 w 1858209"/>
              <a:gd name="connsiteY1" fmla="*/ 0 h 2610096"/>
              <a:gd name="connsiteX2" fmla="*/ 1579125 w 1858209"/>
              <a:gd name="connsiteY2" fmla="*/ 62307 h 2610096"/>
              <a:gd name="connsiteX3" fmla="*/ 1858209 w 1858209"/>
              <a:gd name="connsiteY3" fmla="*/ 975965 h 2610096"/>
              <a:gd name="connsiteX4" fmla="*/ 224078 w 1858209"/>
              <a:gd name="connsiteY4" fmla="*/ 2610096 h 2610096"/>
              <a:gd name="connsiteX5" fmla="*/ 56998 w 1858209"/>
              <a:gd name="connsiteY5" fmla="*/ 2601659 h 2610096"/>
              <a:gd name="connsiteX6" fmla="*/ 0 w 1858209"/>
              <a:gd name="connsiteY6" fmla="*/ 2592960 h 2610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209" h="2610096">
                <a:moveTo>
                  <a:pt x="0" y="0"/>
                </a:moveTo>
                <a:lnTo>
                  <a:pt x="1532533" y="0"/>
                </a:lnTo>
                <a:lnTo>
                  <a:pt x="1579125" y="62307"/>
                </a:lnTo>
                <a:cubicBezTo>
                  <a:pt x="1755324" y="323116"/>
                  <a:pt x="1858209" y="637525"/>
                  <a:pt x="1858209" y="975965"/>
                </a:cubicBezTo>
                <a:cubicBezTo>
                  <a:pt x="1858209" y="1878471"/>
                  <a:pt x="1126584" y="2610096"/>
                  <a:pt x="224078" y="2610096"/>
                </a:cubicBezTo>
                <a:cubicBezTo>
                  <a:pt x="167671" y="2610096"/>
                  <a:pt x="111932" y="2607238"/>
                  <a:pt x="56998" y="2601659"/>
                </a:cubicBezTo>
                <a:lnTo>
                  <a:pt x="0" y="2592960"/>
                </a:ln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6A9E29-841B-F63A-A4FB-958C2A39A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97386" y="4880996"/>
            <a:ext cx="1499065" cy="1499065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1E8E1F-3A86-62FC-58AB-E196456B4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1124" y="1169282"/>
            <a:ext cx="389835" cy="38983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" y="2002536"/>
            <a:ext cx="5138928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09C5826C-6081-DF9F-2832-3E46BA58C61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2002536"/>
            <a:ext cx="5138928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6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544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EA15E1F6-FCC0-B1B8-8F0A-02FAAB3F0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65453" y="5422957"/>
            <a:ext cx="600979" cy="600979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8A0AB697-65DD-D82E-FD2B-BB10E141E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84941"/>
            <a:ext cx="5739305" cy="6173059"/>
          </a:xfrm>
          <a:custGeom>
            <a:avLst/>
            <a:gdLst>
              <a:gd name="connsiteX0" fmla="*/ 2105216 w 5739305"/>
              <a:gd name="connsiteY0" fmla="*/ 0 h 6173059"/>
              <a:gd name="connsiteX1" fmla="*/ 5739305 w 5739305"/>
              <a:gd name="connsiteY1" fmla="*/ 3634089 h 6173059"/>
              <a:gd name="connsiteX2" fmla="*/ 4909456 w 5739305"/>
              <a:gd name="connsiteY2" fmla="*/ 5945707 h 6173059"/>
              <a:gd name="connsiteX3" fmla="*/ 4702825 w 5739305"/>
              <a:gd name="connsiteY3" fmla="*/ 6173059 h 6173059"/>
              <a:gd name="connsiteX4" fmla="*/ 0 w 5739305"/>
              <a:gd name="connsiteY4" fmla="*/ 6173059 h 6173059"/>
              <a:gd name="connsiteX5" fmla="*/ 0 w 5739305"/>
              <a:gd name="connsiteY5" fmla="*/ 675505 h 6173059"/>
              <a:gd name="connsiteX6" fmla="*/ 73362 w 5739305"/>
              <a:gd name="connsiteY6" fmla="*/ 620646 h 6173059"/>
              <a:gd name="connsiteX7" fmla="*/ 2105216 w 5739305"/>
              <a:gd name="connsiteY7" fmla="*/ 0 h 617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39305" h="6173059">
                <a:moveTo>
                  <a:pt x="2105216" y="0"/>
                </a:moveTo>
                <a:cubicBezTo>
                  <a:pt x="4112268" y="0"/>
                  <a:pt x="5739305" y="1627037"/>
                  <a:pt x="5739305" y="3634089"/>
                </a:cubicBezTo>
                <a:cubicBezTo>
                  <a:pt x="5739305" y="4512174"/>
                  <a:pt x="5427880" y="5317522"/>
                  <a:pt x="4909456" y="5945707"/>
                </a:cubicBezTo>
                <a:lnTo>
                  <a:pt x="4702825" y="6173059"/>
                </a:lnTo>
                <a:lnTo>
                  <a:pt x="0" y="6173059"/>
                </a:lnTo>
                <a:lnTo>
                  <a:pt x="0" y="675505"/>
                </a:lnTo>
                <a:lnTo>
                  <a:pt x="73362" y="620646"/>
                </a:lnTo>
                <a:cubicBezTo>
                  <a:pt x="653367" y="228802"/>
                  <a:pt x="1352572" y="0"/>
                  <a:pt x="210521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DF637CE-F1AA-EB3D-67EB-815F56FF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00869" y="447695"/>
            <a:ext cx="1499065" cy="1499065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7F2D7-0500-18AD-893F-3BFF96B9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386" y="1273861"/>
            <a:ext cx="5149695" cy="426405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386584"/>
            <a:ext cx="4837176" cy="2103120"/>
          </a:xfrm>
        </p:spPr>
        <p:txBody>
          <a:bodyPr anchor="t" anchorCtr="0">
            <a:normAutofit/>
          </a:bodyPr>
          <a:lstStyle>
            <a:lvl1pPr algn="l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3D01B9-382B-1FFC-B0E8-50A5B1AA5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155536" y="2000952"/>
            <a:ext cx="3844355" cy="3094988"/>
            <a:chOff x="6448201" y="2832180"/>
            <a:chExt cx="4489704" cy="290169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DE06067-B8E1-70ED-D2D3-44CF8CDCDA07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283218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30DAD0A-6F95-3AC2-7012-1BFF86880C36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353322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8BE1B0-4E81-D3BC-6252-7981ADD19C22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423426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02BDCE-1B33-A927-9656-8B1F13D3E546}"/>
                </a:ext>
              </a:extLst>
            </p:cNvPr>
            <p:cNvCxnSpPr>
              <a:cxnSpLocks/>
            </p:cNvCxnSpPr>
            <p:nvPr/>
          </p:nvCxnSpPr>
          <p:spPr>
            <a:xfrm>
              <a:off x="6454297" y="4971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E0822DF-56EF-F16B-1D58-9C3EAC7944A0}"/>
                </a:ext>
              </a:extLst>
            </p:cNvPr>
            <p:cNvCxnSpPr>
              <a:cxnSpLocks/>
            </p:cNvCxnSpPr>
            <p:nvPr/>
          </p:nvCxnSpPr>
          <p:spPr>
            <a:xfrm>
              <a:off x="6460393" y="5733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70A54A3-3D1B-FF08-2460-114DA5BF6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6812124" y="1474457"/>
            <a:ext cx="493649" cy="40656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4.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5.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55536" y="1605845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66D221-FD48-C909-F65B-085F44205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55536" y="2373903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BD84418-94A8-777A-FEF5-E2B3E93F4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55536" y="3144171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FF35093-CCA2-ABAA-FBB6-03256FB06B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5536" y="3926830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6FF71D66-09F6-C545-173C-E4918A91F0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55536" y="4693042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49D04-3BCD-7CCF-7AE2-41C646366DF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rot="16200000">
            <a:off x="10403704" y="596187"/>
            <a:ext cx="2384490" cy="119210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635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2">
            <a:extLst>
              <a:ext uri="{FF2B5EF4-FFF2-40B4-BE49-F238E27FC236}">
                <a16:creationId xmlns:a16="http://schemas.microsoft.com/office/drawing/2014/main" id="{CCB0938D-C7B4-782B-BFAF-F503DE1CA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4287" y="4334114"/>
            <a:ext cx="1149441" cy="1499066"/>
          </a:xfrm>
          <a:custGeom>
            <a:avLst/>
            <a:gdLst>
              <a:gd name="connsiteX0" fmla="*/ 399908 w 1149441"/>
              <a:gd name="connsiteY0" fmla="*/ 0 h 1499066"/>
              <a:gd name="connsiteX1" fmla="*/ 1149441 w 1149441"/>
              <a:gd name="connsiteY1" fmla="*/ 749533 h 1499066"/>
              <a:gd name="connsiteX2" fmla="*/ 399908 w 1149441"/>
              <a:gd name="connsiteY2" fmla="*/ 1499066 h 1499066"/>
              <a:gd name="connsiteX3" fmla="*/ 108156 w 1149441"/>
              <a:gd name="connsiteY3" fmla="*/ 1440164 h 1499066"/>
              <a:gd name="connsiteX4" fmla="*/ 0 w 1149441"/>
              <a:gd name="connsiteY4" fmla="*/ 1381459 h 1499066"/>
              <a:gd name="connsiteX5" fmla="*/ 0 w 1149441"/>
              <a:gd name="connsiteY5" fmla="*/ 117607 h 1499066"/>
              <a:gd name="connsiteX6" fmla="*/ 108156 w 1149441"/>
              <a:gd name="connsiteY6" fmla="*/ 58902 h 1499066"/>
              <a:gd name="connsiteX7" fmla="*/ 399908 w 1149441"/>
              <a:gd name="connsiteY7" fmla="*/ 0 h 1499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9441" h="1499066">
                <a:moveTo>
                  <a:pt x="399908" y="0"/>
                </a:moveTo>
                <a:cubicBezTo>
                  <a:pt x="813864" y="0"/>
                  <a:pt x="1149441" y="335577"/>
                  <a:pt x="1149441" y="749533"/>
                </a:cubicBezTo>
                <a:cubicBezTo>
                  <a:pt x="1149441" y="1163489"/>
                  <a:pt x="813864" y="1499066"/>
                  <a:pt x="399908" y="1499066"/>
                </a:cubicBezTo>
                <a:cubicBezTo>
                  <a:pt x="296419" y="1499066"/>
                  <a:pt x="197829" y="1478093"/>
                  <a:pt x="108156" y="1440164"/>
                </a:cubicBezTo>
                <a:lnTo>
                  <a:pt x="0" y="1381459"/>
                </a:lnTo>
                <a:lnTo>
                  <a:pt x="0" y="117607"/>
                </a:lnTo>
                <a:lnTo>
                  <a:pt x="108156" y="58902"/>
                </a:lnTo>
                <a:cubicBezTo>
                  <a:pt x="197829" y="20974"/>
                  <a:pt x="296419" y="0"/>
                  <a:pt x="399908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9">
            <a:extLst>
              <a:ext uri="{FF2B5EF4-FFF2-40B4-BE49-F238E27FC236}">
                <a16:creationId xmlns:a16="http://schemas.microsoft.com/office/drawing/2014/main" id="{27AD3143-C49E-0951-0DB8-A9ABF0AB7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18661" y="-1535"/>
            <a:ext cx="6184356" cy="5906209"/>
          </a:xfrm>
          <a:custGeom>
            <a:avLst/>
            <a:gdLst>
              <a:gd name="connsiteX0" fmla="*/ 605352 w 6184356"/>
              <a:gd name="connsiteY0" fmla="*/ 0 h 5906209"/>
              <a:gd name="connsiteX1" fmla="*/ 6184356 w 6184356"/>
              <a:gd name="connsiteY1" fmla="*/ 0 h 5906209"/>
              <a:gd name="connsiteX2" fmla="*/ 6184356 w 6184356"/>
              <a:gd name="connsiteY2" fmla="*/ 5104584 h 5906209"/>
              <a:gd name="connsiteX3" fmla="*/ 5989771 w 6184356"/>
              <a:gd name="connsiteY3" fmla="*/ 5250092 h 5906209"/>
              <a:gd name="connsiteX4" fmla="*/ 3841790 w 6184356"/>
              <a:gd name="connsiteY4" fmla="*/ 5906209 h 5906209"/>
              <a:gd name="connsiteX5" fmla="*/ 0 w 6184356"/>
              <a:gd name="connsiteY5" fmla="*/ 2064419 h 5906209"/>
              <a:gd name="connsiteX6" fmla="*/ 463684 w 6184356"/>
              <a:gd name="connsiteY6" fmla="*/ 233194 h 590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4356" h="5906209">
                <a:moveTo>
                  <a:pt x="605352" y="0"/>
                </a:moveTo>
                <a:lnTo>
                  <a:pt x="6184356" y="0"/>
                </a:lnTo>
                <a:lnTo>
                  <a:pt x="6184356" y="5104584"/>
                </a:lnTo>
                <a:lnTo>
                  <a:pt x="5989771" y="5250092"/>
                </a:lnTo>
                <a:cubicBezTo>
                  <a:pt x="5376618" y="5664330"/>
                  <a:pt x="4637451" y="5906209"/>
                  <a:pt x="3841790" y="5906209"/>
                </a:cubicBezTo>
                <a:cubicBezTo>
                  <a:pt x="1720028" y="5906209"/>
                  <a:pt x="0" y="4186181"/>
                  <a:pt x="0" y="2064419"/>
                </a:cubicBezTo>
                <a:cubicBezTo>
                  <a:pt x="0" y="1401369"/>
                  <a:pt x="167972" y="777550"/>
                  <a:pt x="463684" y="23319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F142C3-F309-0D74-D5C5-3EAB19D43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89666" y="1067784"/>
            <a:ext cx="635955" cy="63595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386584"/>
            <a:ext cx="4837176" cy="2103120"/>
          </a:xfrm>
        </p:spPr>
        <p:txBody>
          <a:bodyPr anchor="t" anchorCtr="0">
            <a:normAutofit/>
          </a:bodyPr>
          <a:lstStyle>
            <a:lvl1pPr algn="l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90AB7A2-D41E-7F8C-E35B-D135E2EFA5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V="1">
            <a:off x="2963611" y="-9427"/>
            <a:ext cx="2384497" cy="118100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1280160"/>
            <a:ext cx="5129784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7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444D42C-1BDD-684F-2ED7-CBF2B31FA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1017"/>
            <a:ext cx="5797960" cy="5177077"/>
          </a:xfrm>
          <a:custGeom>
            <a:avLst/>
            <a:gdLst>
              <a:gd name="connsiteX0" fmla="*/ 0 w 6306096"/>
              <a:gd name="connsiteY0" fmla="*/ 0 h 5630799"/>
              <a:gd name="connsiteX1" fmla="*/ 5864035 w 6306096"/>
              <a:gd name="connsiteY1" fmla="*/ 0 h 5630799"/>
              <a:gd name="connsiteX2" fmla="*/ 5927254 w 6306096"/>
              <a:gd name="connsiteY2" fmla="*/ 123434 h 5630799"/>
              <a:gd name="connsiteX3" fmla="*/ 6306096 w 6306096"/>
              <a:gd name="connsiteY3" fmla="*/ 1789009 h 5630799"/>
              <a:gd name="connsiteX4" fmla="*/ 2464306 w 6306096"/>
              <a:gd name="connsiteY4" fmla="*/ 5630799 h 5630799"/>
              <a:gd name="connsiteX5" fmla="*/ 20571 w 6306096"/>
              <a:gd name="connsiteY5" fmla="*/ 4753521 h 5630799"/>
              <a:gd name="connsiteX6" fmla="*/ 0 w 6306096"/>
              <a:gd name="connsiteY6" fmla="*/ 4734825 h 563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6096" h="5630799">
                <a:moveTo>
                  <a:pt x="0" y="0"/>
                </a:moveTo>
                <a:lnTo>
                  <a:pt x="5864035" y="0"/>
                </a:lnTo>
                <a:lnTo>
                  <a:pt x="5927254" y="123434"/>
                </a:lnTo>
                <a:cubicBezTo>
                  <a:pt x="6170039" y="627296"/>
                  <a:pt x="6306096" y="1192264"/>
                  <a:pt x="6306096" y="1789009"/>
                </a:cubicBezTo>
                <a:cubicBezTo>
                  <a:pt x="6306096" y="3910771"/>
                  <a:pt x="4586068" y="5630799"/>
                  <a:pt x="2464306" y="5630799"/>
                </a:cubicBezTo>
                <a:cubicBezTo>
                  <a:pt x="1536035" y="5630799"/>
                  <a:pt x="684659" y="5301575"/>
                  <a:pt x="20571" y="4753521"/>
                </a:cubicBezTo>
                <a:lnTo>
                  <a:pt x="0" y="4734825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266F6B-F29A-5957-62EB-27F8C2FA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82616" y="378865"/>
            <a:ext cx="813384" cy="813384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AC709F-F9A3-D8F0-A42E-A2C94191D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75619" y="5909834"/>
            <a:ext cx="397747" cy="397747"/>
          </a:xfrm>
          <a:prstGeom prst="ellipse">
            <a:avLst/>
          </a:prstGeom>
          <a:solidFill>
            <a:schemeClr val="accent6">
              <a:alpha val="3033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386584"/>
            <a:ext cx="4837176" cy="2103120"/>
          </a:xfrm>
        </p:spPr>
        <p:txBody>
          <a:bodyPr anchor="t" anchorCtr="0">
            <a:normAutofit/>
          </a:bodyPr>
          <a:lstStyle>
            <a:lvl1pPr algn="l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1280160"/>
            <a:ext cx="5129784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Footer Placeholder 18">
            <a:extLst>
              <a:ext uri="{FF2B5EF4-FFF2-40B4-BE49-F238E27FC236}">
                <a16:creationId xmlns:a16="http://schemas.microsoft.com/office/drawing/2014/main" id="{3914E26B-E8E4-55F2-CC5E-DD0D0AD5C8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39496" y="612648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5E2D1E-4C5D-A613-CB40-98902C0D83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63206" y="5671159"/>
            <a:ext cx="2384497" cy="118684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19">
            <a:extLst>
              <a:ext uri="{FF2B5EF4-FFF2-40B4-BE49-F238E27FC236}">
                <a16:creationId xmlns:a16="http://schemas.microsoft.com/office/drawing/2014/main" id="{294A49EB-EEA6-1B79-F5DE-CFBFC6FFA2C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793690" y="6190487"/>
            <a:ext cx="846621" cy="365760"/>
          </a:xfrm>
        </p:spPr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035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34171" y="2087276"/>
            <a:ext cx="3262907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0"/>
            <a:ext cx="1824598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65666" y="5908181"/>
            <a:ext cx="3046380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948393"/>
            <a:ext cx="420622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386584"/>
            <a:ext cx="4837176" cy="2103120"/>
          </a:xfrm>
        </p:spPr>
        <p:txBody>
          <a:bodyPr anchor="t" anchorCtr="0">
            <a:normAutofit/>
          </a:bodyPr>
          <a:lstStyle>
            <a:lvl1pPr algn="l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1280160"/>
            <a:ext cx="5129784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744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>
            <a:extLst>
              <a:ext uri="{FF2B5EF4-FFF2-40B4-BE49-F238E27FC236}">
                <a16:creationId xmlns:a16="http://schemas.microsoft.com/office/drawing/2014/main" id="{B016AB6E-3D8A-906E-416F-9B68623EA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2398" y="4482109"/>
            <a:ext cx="5279603" cy="2386909"/>
          </a:xfrm>
          <a:custGeom>
            <a:avLst/>
            <a:gdLst>
              <a:gd name="connsiteX0" fmla="*/ 3601541 w 5279603"/>
              <a:gd name="connsiteY0" fmla="*/ 0 h 2386909"/>
              <a:gd name="connsiteX1" fmla="*/ 5123083 w 5279603"/>
              <a:gd name="connsiteY1" fmla="*/ 307185 h 2386909"/>
              <a:gd name="connsiteX2" fmla="*/ 5279603 w 5279603"/>
              <a:gd name="connsiteY2" fmla="*/ 377947 h 2386909"/>
              <a:gd name="connsiteX3" fmla="*/ 5279603 w 5279603"/>
              <a:gd name="connsiteY3" fmla="*/ 2386909 h 2386909"/>
              <a:gd name="connsiteX4" fmla="*/ 0 w 5279603"/>
              <a:gd name="connsiteY4" fmla="*/ 2386909 h 2386909"/>
              <a:gd name="connsiteX5" fmla="*/ 78053 w 5279603"/>
              <a:gd name="connsiteY5" fmla="*/ 2214261 h 2386909"/>
              <a:gd name="connsiteX6" fmla="*/ 3601541 w 5279603"/>
              <a:gd name="connsiteY6" fmla="*/ 0 h 238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79603" h="2386909">
                <a:moveTo>
                  <a:pt x="3601541" y="0"/>
                </a:moveTo>
                <a:cubicBezTo>
                  <a:pt x="4141255" y="0"/>
                  <a:pt x="4655422" y="109382"/>
                  <a:pt x="5123083" y="307185"/>
                </a:cubicBezTo>
                <a:lnTo>
                  <a:pt x="5279603" y="377947"/>
                </a:lnTo>
                <a:lnTo>
                  <a:pt x="5279603" y="2386909"/>
                </a:lnTo>
                <a:lnTo>
                  <a:pt x="0" y="2386909"/>
                </a:lnTo>
                <a:lnTo>
                  <a:pt x="78053" y="2214261"/>
                </a:lnTo>
                <a:cubicBezTo>
                  <a:pt x="709351" y="904104"/>
                  <a:pt x="2049863" y="0"/>
                  <a:pt x="3601541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471EA21E-8904-9B80-6EAB-BA76819B4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88287" y="5875583"/>
            <a:ext cx="1499066" cy="993434"/>
          </a:xfrm>
          <a:custGeom>
            <a:avLst/>
            <a:gdLst>
              <a:gd name="connsiteX0" fmla="*/ 749533 w 1499066"/>
              <a:gd name="connsiteY0" fmla="*/ 0 h 993434"/>
              <a:gd name="connsiteX1" fmla="*/ 1499066 w 1499066"/>
              <a:gd name="connsiteY1" fmla="*/ 749533 h 993434"/>
              <a:gd name="connsiteX2" fmla="*/ 1483838 w 1499066"/>
              <a:gd name="connsiteY2" fmla="*/ 900590 h 993434"/>
              <a:gd name="connsiteX3" fmla="*/ 1455018 w 1499066"/>
              <a:gd name="connsiteY3" fmla="*/ 993434 h 993434"/>
              <a:gd name="connsiteX4" fmla="*/ 44048 w 1499066"/>
              <a:gd name="connsiteY4" fmla="*/ 993434 h 993434"/>
              <a:gd name="connsiteX5" fmla="*/ 15228 w 1499066"/>
              <a:gd name="connsiteY5" fmla="*/ 900590 h 993434"/>
              <a:gd name="connsiteX6" fmla="*/ 0 w 1499066"/>
              <a:gd name="connsiteY6" fmla="*/ 749533 h 993434"/>
              <a:gd name="connsiteX7" fmla="*/ 749533 w 1499066"/>
              <a:gd name="connsiteY7" fmla="*/ 0 h 99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99066" h="993434">
                <a:moveTo>
                  <a:pt x="749533" y="0"/>
                </a:moveTo>
                <a:cubicBezTo>
                  <a:pt x="1163489" y="0"/>
                  <a:pt x="1499066" y="335577"/>
                  <a:pt x="1499066" y="749533"/>
                </a:cubicBezTo>
                <a:cubicBezTo>
                  <a:pt x="1499066" y="801278"/>
                  <a:pt x="1493823" y="851798"/>
                  <a:pt x="1483838" y="900590"/>
                </a:cubicBezTo>
                <a:lnTo>
                  <a:pt x="1455018" y="993434"/>
                </a:lnTo>
                <a:lnTo>
                  <a:pt x="44048" y="993434"/>
                </a:lnTo>
                <a:lnTo>
                  <a:pt x="15228" y="900590"/>
                </a:lnTo>
                <a:cubicBezTo>
                  <a:pt x="5244" y="851798"/>
                  <a:pt x="0" y="801278"/>
                  <a:pt x="0" y="749533"/>
                </a:cubicBezTo>
                <a:cubicBezTo>
                  <a:pt x="0" y="335577"/>
                  <a:pt x="335577" y="0"/>
                  <a:pt x="749533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" y="2002536"/>
            <a:ext cx="5029200" cy="4096512"/>
          </a:xfrm>
          <a:noFill/>
          <a:ln w="12700">
            <a:noFill/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09C5826C-6081-DF9F-2832-3E46BA58C61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2002536"/>
            <a:ext cx="5029200" cy="4096512"/>
          </a:xfrm>
          <a:noFill/>
          <a:ln w="12700">
            <a:noFill/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CB50393-ACAA-59FB-EDD9-D6A45246E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" y="5824445"/>
            <a:ext cx="735041" cy="7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79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34171" y="2087276"/>
            <a:ext cx="3262907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0"/>
            <a:ext cx="1824598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65666" y="5908181"/>
            <a:ext cx="3046380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948393"/>
            <a:ext cx="420622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5760B73-B111-FFDC-8074-91B4C106E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4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34171" y="2087276"/>
            <a:ext cx="3262907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0"/>
            <a:ext cx="1824598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65666" y="5908181"/>
            <a:ext cx="3046380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948393"/>
            <a:ext cx="420622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33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9496" y="61264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7112" y="6190487"/>
            <a:ext cx="2743200" cy="365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36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FA8BB-F15A-85A5-3092-D770CE75B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46C9C2-7C97-E151-DC64-74A40FE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572" y="1892915"/>
            <a:ext cx="7008315" cy="3072169"/>
          </a:xfrm>
        </p:spPr>
        <p:txBody>
          <a:bodyPr/>
          <a:lstStyle/>
          <a:p>
            <a:r>
              <a:rPr lang="en-US" sz="48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Exploring Physiological and Environmental Factors: Predicting Engagement Levels</a:t>
            </a:r>
            <a:endParaRPr lang="en-US" sz="4800" dirty="0"/>
          </a:p>
        </p:txBody>
      </p:sp>
      <p:sp>
        <p:nvSpPr>
          <p:cNvPr id="5" name="Subtitle 17">
            <a:extLst>
              <a:ext uri="{FF2B5EF4-FFF2-40B4-BE49-F238E27FC236}">
                <a16:creationId xmlns:a16="http://schemas.microsoft.com/office/drawing/2014/main" id="{197EBD4F-8D1E-AACD-FFAA-33C12DB3C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7793" y="5778602"/>
            <a:ext cx="3372465" cy="1079398"/>
          </a:xfrm>
        </p:spPr>
        <p:txBody>
          <a:bodyPr>
            <a:normAutofit/>
          </a:bodyPr>
          <a:lstStyle/>
          <a:p>
            <a:pPr algn="ctr"/>
            <a:r>
              <a:rPr lang="en-US" sz="1800" i="1" dirty="0"/>
              <a:t>Tanvi Thopte</a:t>
            </a:r>
          </a:p>
          <a:p>
            <a:pPr algn="ctr"/>
            <a:r>
              <a:rPr lang="en-IN" sz="1800" i="1" dirty="0"/>
              <a:t>U35489362</a:t>
            </a:r>
            <a:endParaRPr lang="en-US" sz="1800" i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41FCDCB-3738-9B55-0C15-4A7662949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325" y="1438275"/>
            <a:ext cx="3990975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4E6B2EB8-9440-B25A-A223-0CA2375DAAFC}"/>
              </a:ext>
            </a:extLst>
          </p:cNvPr>
          <p:cNvSpPr txBox="1">
            <a:spLocks/>
          </p:cNvSpPr>
          <p:nvPr/>
        </p:nvSpPr>
        <p:spPr>
          <a:xfrm>
            <a:off x="83575" y="85471"/>
            <a:ext cx="11400041" cy="174845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MET CS-555</a:t>
            </a:r>
          </a:p>
          <a:p>
            <a:r>
              <a:rPr lang="en-US" sz="2000" dirty="0"/>
              <a:t>                                                      Foundations Of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49813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2F8D3-9E00-5B40-EA4A-B30B7FB8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A84A517D-B956-C41F-8F40-E88A88B18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4066" y="52582"/>
            <a:ext cx="1710954" cy="160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351F62FE-98F7-776D-6DDC-14A3BCB2078C}"/>
              </a:ext>
            </a:extLst>
          </p:cNvPr>
          <p:cNvSpPr/>
          <p:nvPr/>
        </p:nvSpPr>
        <p:spPr>
          <a:xfrm>
            <a:off x="4489691" y="672898"/>
            <a:ext cx="3212617" cy="359571"/>
          </a:xfrm>
          <a:custGeom>
            <a:avLst/>
            <a:gdLst>
              <a:gd name="connsiteX0" fmla="*/ 0 w 3212617"/>
              <a:gd name="connsiteY0" fmla="*/ 0 h 359571"/>
              <a:gd name="connsiteX1" fmla="*/ 3212617 w 3212617"/>
              <a:gd name="connsiteY1" fmla="*/ 0 h 359571"/>
              <a:gd name="connsiteX2" fmla="*/ 3212617 w 3212617"/>
              <a:gd name="connsiteY2" fmla="*/ 359571 h 359571"/>
              <a:gd name="connsiteX3" fmla="*/ 0 w 3212617"/>
              <a:gd name="connsiteY3" fmla="*/ 359571 h 359571"/>
              <a:gd name="connsiteX4" fmla="*/ 0 w 3212617"/>
              <a:gd name="connsiteY4" fmla="*/ 0 h 35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2617" h="359571" fill="none" extrusionOk="0">
                <a:moveTo>
                  <a:pt x="0" y="0"/>
                </a:moveTo>
                <a:cubicBezTo>
                  <a:pt x="528854" y="-123553"/>
                  <a:pt x="2069839" y="-135257"/>
                  <a:pt x="3212617" y="0"/>
                </a:cubicBezTo>
                <a:cubicBezTo>
                  <a:pt x="3181958" y="106048"/>
                  <a:pt x="3191276" y="320983"/>
                  <a:pt x="3212617" y="359571"/>
                </a:cubicBezTo>
                <a:cubicBezTo>
                  <a:pt x="2822855" y="285582"/>
                  <a:pt x="1106784" y="199777"/>
                  <a:pt x="0" y="359571"/>
                </a:cubicBezTo>
                <a:cubicBezTo>
                  <a:pt x="1964" y="305270"/>
                  <a:pt x="19261" y="55590"/>
                  <a:pt x="0" y="0"/>
                </a:cubicBezTo>
                <a:close/>
              </a:path>
              <a:path w="3212617" h="359571" stroke="0" extrusionOk="0">
                <a:moveTo>
                  <a:pt x="0" y="0"/>
                </a:moveTo>
                <a:cubicBezTo>
                  <a:pt x="384964" y="-80632"/>
                  <a:pt x="2212584" y="-12771"/>
                  <a:pt x="3212617" y="0"/>
                </a:cubicBezTo>
                <a:cubicBezTo>
                  <a:pt x="3216541" y="175448"/>
                  <a:pt x="3187946" y="308618"/>
                  <a:pt x="3212617" y="359571"/>
                </a:cubicBezTo>
                <a:cubicBezTo>
                  <a:pt x="2737467" y="213205"/>
                  <a:pt x="908986" y="456945"/>
                  <a:pt x="0" y="359571"/>
                </a:cubicBezTo>
                <a:cubicBezTo>
                  <a:pt x="3509" y="286495"/>
                  <a:pt x="-6012" y="177053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88792397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ea typeface="Petrona Bold" pitchFamily="34" charset="-122"/>
              </a:rPr>
              <a:t>GOAL</a:t>
            </a:r>
            <a:endParaRPr lang="en-US" sz="23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257A395-51BC-7898-314B-054B29FA5607}"/>
              </a:ext>
            </a:extLst>
          </p:cNvPr>
          <p:cNvSpPr/>
          <p:nvPr/>
        </p:nvSpPr>
        <p:spPr>
          <a:xfrm>
            <a:off x="604717" y="1652783"/>
            <a:ext cx="10982563" cy="1326390"/>
          </a:xfrm>
          <a:custGeom>
            <a:avLst/>
            <a:gdLst>
              <a:gd name="connsiteX0" fmla="*/ 0 w 10982563"/>
              <a:gd name="connsiteY0" fmla="*/ 0 h 1326390"/>
              <a:gd name="connsiteX1" fmla="*/ 10982563 w 10982563"/>
              <a:gd name="connsiteY1" fmla="*/ 0 h 1326390"/>
              <a:gd name="connsiteX2" fmla="*/ 10982563 w 10982563"/>
              <a:gd name="connsiteY2" fmla="*/ 1326390 h 1326390"/>
              <a:gd name="connsiteX3" fmla="*/ 0 w 10982563"/>
              <a:gd name="connsiteY3" fmla="*/ 1326390 h 1326390"/>
              <a:gd name="connsiteX4" fmla="*/ 0 w 10982563"/>
              <a:gd name="connsiteY4" fmla="*/ 0 h 1326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82563" h="1326390" fill="none" extrusionOk="0">
                <a:moveTo>
                  <a:pt x="0" y="0"/>
                </a:moveTo>
                <a:cubicBezTo>
                  <a:pt x="1854103" y="-55049"/>
                  <a:pt x="5766719" y="106262"/>
                  <a:pt x="10982563" y="0"/>
                </a:cubicBezTo>
                <a:cubicBezTo>
                  <a:pt x="11084026" y="394422"/>
                  <a:pt x="11087806" y="1163995"/>
                  <a:pt x="10982563" y="1326390"/>
                </a:cubicBezTo>
                <a:cubicBezTo>
                  <a:pt x="6359098" y="1271638"/>
                  <a:pt x="3938731" y="1414948"/>
                  <a:pt x="0" y="1326390"/>
                </a:cubicBezTo>
                <a:cubicBezTo>
                  <a:pt x="109936" y="1191795"/>
                  <a:pt x="116674" y="512193"/>
                  <a:pt x="0" y="0"/>
                </a:cubicBezTo>
                <a:close/>
              </a:path>
              <a:path w="10982563" h="1326390" stroke="0" extrusionOk="0">
                <a:moveTo>
                  <a:pt x="0" y="0"/>
                </a:moveTo>
                <a:cubicBezTo>
                  <a:pt x="1821007" y="112519"/>
                  <a:pt x="8521536" y="440"/>
                  <a:pt x="10982563" y="0"/>
                </a:cubicBezTo>
                <a:cubicBezTo>
                  <a:pt x="10940942" y="541785"/>
                  <a:pt x="10899517" y="754998"/>
                  <a:pt x="10982563" y="1326390"/>
                </a:cubicBezTo>
                <a:cubicBezTo>
                  <a:pt x="7226113" y="1281834"/>
                  <a:pt x="3557845" y="1379208"/>
                  <a:pt x="0" y="1326390"/>
                </a:cubicBezTo>
                <a:cubicBezTo>
                  <a:pt x="-102818" y="799388"/>
                  <a:pt x="93552" y="607021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7409249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2000" dirty="0"/>
          </a:p>
          <a:p>
            <a:pPr marL="0" indent="0" algn="ctr">
              <a:lnSpc>
                <a:spcPts val="2850"/>
              </a:lnSpc>
              <a:buNone/>
            </a:pPr>
            <a:r>
              <a:rPr lang="en-US" sz="2000" dirty="0"/>
              <a:t>This project aims to evaluate how some physiological and environmental factors influence an individual’s engagement level.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2000" dirty="0"/>
          </a:p>
          <a:p>
            <a:pPr marL="0" indent="0" algn="ctr">
              <a:lnSpc>
                <a:spcPts val="2850"/>
              </a:lnSpc>
              <a:buNone/>
            </a:pPr>
            <a:endParaRPr lang="en-US" sz="1600" dirty="0"/>
          </a:p>
          <a:p>
            <a:pPr marL="0" indent="0" algn="ctr">
              <a:lnSpc>
                <a:spcPts val="2850"/>
              </a:lnSpc>
              <a:buNone/>
            </a:pPr>
            <a:endParaRPr lang="en-US" sz="1600" dirty="0"/>
          </a:p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4FAFDB-287C-02B5-68B0-DB8E88CF6988}"/>
              </a:ext>
            </a:extLst>
          </p:cNvPr>
          <p:cNvSpPr txBox="1"/>
          <p:nvPr/>
        </p:nvSpPr>
        <p:spPr>
          <a:xfrm>
            <a:off x="1101144" y="3282162"/>
            <a:ext cx="10137128" cy="3026791"/>
          </a:xfrm>
          <a:custGeom>
            <a:avLst/>
            <a:gdLst>
              <a:gd name="connsiteX0" fmla="*/ 0 w 10137128"/>
              <a:gd name="connsiteY0" fmla="*/ 0 h 3026791"/>
              <a:gd name="connsiteX1" fmla="*/ 10137128 w 10137128"/>
              <a:gd name="connsiteY1" fmla="*/ 0 h 3026791"/>
              <a:gd name="connsiteX2" fmla="*/ 10137128 w 10137128"/>
              <a:gd name="connsiteY2" fmla="*/ 3026791 h 3026791"/>
              <a:gd name="connsiteX3" fmla="*/ 0 w 10137128"/>
              <a:gd name="connsiteY3" fmla="*/ 3026791 h 3026791"/>
              <a:gd name="connsiteX4" fmla="*/ 0 w 10137128"/>
              <a:gd name="connsiteY4" fmla="*/ 0 h 3026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7128" h="3026791" fill="none" extrusionOk="0">
                <a:moveTo>
                  <a:pt x="0" y="0"/>
                </a:moveTo>
                <a:cubicBezTo>
                  <a:pt x="1031955" y="-102531"/>
                  <a:pt x="8201784" y="52498"/>
                  <a:pt x="10137128" y="0"/>
                </a:cubicBezTo>
                <a:cubicBezTo>
                  <a:pt x="10073699" y="1222371"/>
                  <a:pt x="10162589" y="1853044"/>
                  <a:pt x="10137128" y="3026791"/>
                </a:cubicBezTo>
                <a:cubicBezTo>
                  <a:pt x="7219054" y="2963698"/>
                  <a:pt x="2367179" y="3170477"/>
                  <a:pt x="0" y="3026791"/>
                </a:cubicBezTo>
                <a:cubicBezTo>
                  <a:pt x="81888" y="2161316"/>
                  <a:pt x="-87121" y="311364"/>
                  <a:pt x="0" y="0"/>
                </a:cubicBezTo>
                <a:close/>
              </a:path>
              <a:path w="10137128" h="3026791" stroke="0" extrusionOk="0">
                <a:moveTo>
                  <a:pt x="0" y="0"/>
                </a:moveTo>
                <a:cubicBezTo>
                  <a:pt x="1335357" y="-111717"/>
                  <a:pt x="5923563" y="130672"/>
                  <a:pt x="10137128" y="0"/>
                </a:cubicBezTo>
                <a:cubicBezTo>
                  <a:pt x="10030533" y="1142605"/>
                  <a:pt x="10084369" y="1710025"/>
                  <a:pt x="10137128" y="3026791"/>
                </a:cubicBezTo>
                <a:cubicBezTo>
                  <a:pt x="6671663" y="2991280"/>
                  <a:pt x="2648210" y="2961903"/>
                  <a:pt x="0" y="3026791"/>
                </a:cubicBezTo>
                <a:cubicBezTo>
                  <a:pt x="-114945" y="1680583"/>
                  <a:pt x="22750" y="812663"/>
                  <a:pt x="0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0001895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b="1" u="sng" dirty="0"/>
              <a:t>Addressing Questions</a:t>
            </a:r>
          </a:p>
          <a:p>
            <a:pPr marL="285750" indent="-285750" algn="ctr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/>
              <a:t> Do Cognitive/Emotional states impact engagement levels, and if so, how?</a:t>
            </a:r>
            <a:endParaRPr lang="en-US" sz="1800" dirty="0"/>
          </a:p>
          <a:p>
            <a:pPr marL="285750" indent="-285750" algn="ctr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/>
              <a:t>What factors, such as heart rate and environmental conditions, are the most significant predictors of a person’s engagement level? </a:t>
            </a:r>
          </a:p>
          <a:p>
            <a:pPr marL="285750" indent="-285750" algn="ctr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/>
              <a:t>• Does engagement level change with physiological responses like heart rate or skin conductance? </a:t>
            </a:r>
          </a:p>
          <a:p>
            <a:pPr marL="285750" indent="-285750" algn="ctr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/>
              <a:t>• How does the surrounding environment (ambient noise or lighting) influence a person’s engagement?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08124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6731-6DB9-4A9F-1DFF-AAFDE05A3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13" y="367649"/>
            <a:ext cx="11119104" cy="640080"/>
          </a:xfrm>
        </p:spPr>
        <p:txBody>
          <a:bodyPr/>
          <a:lstStyle/>
          <a:p>
            <a:r>
              <a:rPr lang="en-US" dirty="0"/>
              <a:t>INTRODUCTION TO THE DATASET</a:t>
            </a:r>
          </a:p>
        </p:txBody>
      </p:sp>
      <p:sp>
        <p:nvSpPr>
          <p:cNvPr id="19" name="Slide Number Placeholder 7">
            <a:extLst>
              <a:ext uri="{FF2B5EF4-FFF2-40B4-BE49-F238E27FC236}">
                <a16:creationId xmlns:a16="http://schemas.microsoft.com/office/drawing/2014/main" id="{BE71C81B-D2D7-0980-5857-B1C98347E578}"/>
              </a:ext>
            </a:extLst>
          </p:cNvPr>
          <p:cNvSpPr txBox="1">
            <a:spLocks/>
          </p:cNvSpPr>
          <p:nvPr/>
        </p:nvSpPr>
        <p:spPr>
          <a:xfrm>
            <a:off x="8766524" y="5663419"/>
            <a:ext cx="2743200" cy="365125"/>
          </a:xfrm>
          <a:custGeom>
            <a:avLst/>
            <a:gdLst>
              <a:gd name="connsiteX0" fmla="*/ 0 w 2743200"/>
              <a:gd name="connsiteY0" fmla="*/ 0 h 365125"/>
              <a:gd name="connsiteX1" fmla="*/ 2743200 w 2743200"/>
              <a:gd name="connsiteY1" fmla="*/ 0 h 365125"/>
              <a:gd name="connsiteX2" fmla="*/ 2743200 w 2743200"/>
              <a:gd name="connsiteY2" fmla="*/ 365125 h 365125"/>
              <a:gd name="connsiteX3" fmla="*/ 0 w 2743200"/>
              <a:gd name="connsiteY3" fmla="*/ 365125 h 365125"/>
              <a:gd name="connsiteX4" fmla="*/ 0 w 2743200"/>
              <a:gd name="connsiteY4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365125" fill="none" extrusionOk="0">
                <a:moveTo>
                  <a:pt x="0" y="0"/>
                </a:moveTo>
                <a:cubicBezTo>
                  <a:pt x="1230221" y="-142139"/>
                  <a:pt x="2343638" y="-47540"/>
                  <a:pt x="2743200" y="0"/>
                </a:cubicBezTo>
                <a:cubicBezTo>
                  <a:pt x="2717282" y="175229"/>
                  <a:pt x="2736073" y="278286"/>
                  <a:pt x="2743200" y="365125"/>
                </a:cubicBezTo>
                <a:cubicBezTo>
                  <a:pt x="1883154" y="347608"/>
                  <a:pt x="540342" y="387645"/>
                  <a:pt x="0" y="365125"/>
                </a:cubicBezTo>
                <a:cubicBezTo>
                  <a:pt x="22428" y="215398"/>
                  <a:pt x="-23390" y="53321"/>
                  <a:pt x="0" y="0"/>
                </a:cubicBezTo>
                <a:close/>
              </a:path>
              <a:path w="2743200" h="365125" stroke="0" extrusionOk="0">
                <a:moveTo>
                  <a:pt x="0" y="0"/>
                </a:moveTo>
                <a:cubicBezTo>
                  <a:pt x="1132984" y="101781"/>
                  <a:pt x="2133468" y="-146679"/>
                  <a:pt x="2743200" y="0"/>
                </a:cubicBezTo>
                <a:cubicBezTo>
                  <a:pt x="2751485" y="76077"/>
                  <a:pt x="2726607" y="244418"/>
                  <a:pt x="2743200" y="365125"/>
                </a:cubicBezTo>
                <a:cubicBezTo>
                  <a:pt x="1806344" y="286951"/>
                  <a:pt x="862779" y="482069"/>
                  <a:pt x="0" y="365125"/>
                </a:cubicBezTo>
                <a:cubicBezTo>
                  <a:pt x="6661" y="191663"/>
                  <a:pt x="-6559" y="41837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4003282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94A09A9-5501-47C1-A89A-A340965A2BE2}" type="slidenum">
              <a:rPr lang="en-US" sz="1400" smtClean="0">
                <a:solidFill>
                  <a:schemeClr val="bg2">
                    <a:lumMod val="50000"/>
                  </a:schemeClr>
                </a:solidFill>
                <a:cs typeface="Segoe UI" panose="020B0502040204020203" pitchFamily="34" charset="0"/>
              </a:rPr>
              <a:pPr algn="r"/>
              <a:t>3</a:t>
            </a:fld>
            <a:endParaRPr lang="en-US" sz="1400" dirty="0">
              <a:solidFill>
                <a:schemeClr val="bg2">
                  <a:lumMod val="50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89E0CB3-2666-DD65-DFB6-DA1DABA0D566}"/>
              </a:ext>
            </a:extLst>
          </p:cNvPr>
          <p:cNvSpPr/>
          <p:nvPr/>
        </p:nvSpPr>
        <p:spPr>
          <a:xfrm>
            <a:off x="571217" y="1410318"/>
            <a:ext cx="3089530" cy="359571"/>
          </a:xfrm>
          <a:custGeom>
            <a:avLst/>
            <a:gdLst>
              <a:gd name="connsiteX0" fmla="*/ 0 w 3089530"/>
              <a:gd name="connsiteY0" fmla="*/ 0 h 359571"/>
              <a:gd name="connsiteX1" fmla="*/ 3089530 w 3089530"/>
              <a:gd name="connsiteY1" fmla="*/ 0 h 359571"/>
              <a:gd name="connsiteX2" fmla="*/ 3089530 w 3089530"/>
              <a:gd name="connsiteY2" fmla="*/ 359571 h 359571"/>
              <a:gd name="connsiteX3" fmla="*/ 0 w 3089530"/>
              <a:gd name="connsiteY3" fmla="*/ 359571 h 359571"/>
              <a:gd name="connsiteX4" fmla="*/ 0 w 3089530"/>
              <a:gd name="connsiteY4" fmla="*/ 0 h 35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9530" h="359571" fill="none" extrusionOk="0">
                <a:moveTo>
                  <a:pt x="0" y="0"/>
                </a:moveTo>
                <a:cubicBezTo>
                  <a:pt x="1223129" y="127489"/>
                  <a:pt x="2507790" y="121007"/>
                  <a:pt x="3089530" y="0"/>
                </a:cubicBezTo>
                <a:cubicBezTo>
                  <a:pt x="3117937" y="59175"/>
                  <a:pt x="3112485" y="295136"/>
                  <a:pt x="3089530" y="359571"/>
                </a:cubicBezTo>
                <a:cubicBezTo>
                  <a:pt x="2503617" y="293005"/>
                  <a:pt x="1476758" y="439760"/>
                  <a:pt x="0" y="359571"/>
                </a:cubicBezTo>
                <a:cubicBezTo>
                  <a:pt x="-6914" y="191955"/>
                  <a:pt x="26609" y="49368"/>
                  <a:pt x="0" y="0"/>
                </a:cubicBezTo>
                <a:close/>
              </a:path>
              <a:path w="3089530" h="359571" stroke="0" extrusionOk="0">
                <a:moveTo>
                  <a:pt x="0" y="0"/>
                </a:moveTo>
                <a:cubicBezTo>
                  <a:pt x="962513" y="3320"/>
                  <a:pt x="2537942" y="166977"/>
                  <a:pt x="3089530" y="0"/>
                </a:cubicBezTo>
                <a:cubicBezTo>
                  <a:pt x="3116115" y="90903"/>
                  <a:pt x="3095352" y="190503"/>
                  <a:pt x="3089530" y="359571"/>
                </a:cubicBezTo>
                <a:cubicBezTo>
                  <a:pt x="1858589" y="290321"/>
                  <a:pt x="1151461" y="213121"/>
                  <a:pt x="0" y="359571"/>
                </a:cubicBezTo>
                <a:cubicBezTo>
                  <a:pt x="-8175" y="216724"/>
                  <a:pt x="22359" y="79483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8907888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ea typeface="Petrona Bold" pitchFamily="34" charset="-122"/>
                <a:cs typeface="Petrona Bold" pitchFamily="34" charset="-120"/>
              </a:rPr>
              <a:t>Physiological Data</a:t>
            </a:r>
            <a:endParaRPr lang="en-US" sz="23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3D4CC48-3739-0CB2-E700-346960C5DA74}"/>
              </a:ext>
            </a:extLst>
          </p:cNvPr>
          <p:cNvSpPr/>
          <p:nvPr/>
        </p:nvSpPr>
        <p:spPr>
          <a:xfrm>
            <a:off x="181074" y="2143431"/>
            <a:ext cx="3869817" cy="3775587"/>
          </a:xfrm>
          <a:custGeom>
            <a:avLst/>
            <a:gdLst>
              <a:gd name="connsiteX0" fmla="*/ 0 w 3869817"/>
              <a:gd name="connsiteY0" fmla="*/ 0 h 3775587"/>
              <a:gd name="connsiteX1" fmla="*/ 3869817 w 3869817"/>
              <a:gd name="connsiteY1" fmla="*/ 0 h 3775587"/>
              <a:gd name="connsiteX2" fmla="*/ 3869817 w 3869817"/>
              <a:gd name="connsiteY2" fmla="*/ 3775587 h 3775587"/>
              <a:gd name="connsiteX3" fmla="*/ 0 w 3869817"/>
              <a:gd name="connsiteY3" fmla="*/ 3775587 h 3775587"/>
              <a:gd name="connsiteX4" fmla="*/ 0 w 3869817"/>
              <a:gd name="connsiteY4" fmla="*/ 0 h 3775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9817" h="3775587" fill="none" extrusionOk="0">
                <a:moveTo>
                  <a:pt x="0" y="0"/>
                </a:moveTo>
                <a:cubicBezTo>
                  <a:pt x="759268" y="75762"/>
                  <a:pt x="3163892" y="-37187"/>
                  <a:pt x="3869817" y="0"/>
                </a:cubicBezTo>
                <a:cubicBezTo>
                  <a:pt x="3835887" y="1295261"/>
                  <a:pt x="3886028" y="2488104"/>
                  <a:pt x="3869817" y="3775587"/>
                </a:cubicBezTo>
                <a:cubicBezTo>
                  <a:pt x="3353596" y="3722665"/>
                  <a:pt x="545710" y="3872379"/>
                  <a:pt x="0" y="3775587"/>
                </a:cubicBezTo>
                <a:cubicBezTo>
                  <a:pt x="-135907" y="2814845"/>
                  <a:pt x="-58509" y="1638569"/>
                  <a:pt x="0" y="0"/>
                </a:cubicBezTo>
                <a:close/>
              </a:path>
              <a:path w="3869817" h="3775587" stroke="0" extrusionOk="0">
                <a:moveTo>
                  <a:pt x="0" y="0"/>
                </a:moveTo>
                <a:cubicBezTo>
                  <a:pt x="993384" y="-136409"/>
                  <a:pt x="2304355" y="136685"/>
                  <a:pt x="3869817" y="0"/>
                </a:cubicBezTo>
                <a:cubicBezTo>
                  <a:pt x="3786271" y="1758904"/>
                  <a:pt x="3840503" y="3023094"/>
                  <a:pt x="3869817" y="3775587"/>
                </a:cubicBezTo>
                <a:cubicBezTo>
                  <a:pt x="2855372" y="3873442"/>
                  <a:pt x="694507" y="3729208"/>
                  <a:pt x="0" y="3775587"/>
                </a:cubicBezTo>
                <a:cubicBezTo>
                  <a:pt x="112116" y="2286016"/>
                  <a:pt x="160518" y="1142993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64909826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The dataset includes real-time measurements of heart rate, skin conductance, and other physiological signals.</a:t>
            </a:r>
          </a:p>
          <a:p>
            <a:pPr algn="ctr"/>
            <a:r>
              <a:rPr lang="en-IN" sz="1600" dirty="0"/>
              <a:t>                </a:t>
            </a:r>
            <a:r>
              <a:rPr lang="en-IN" sz="1600" dirty="0" err="1"/>
              <a:t>HeartRate</a:t>
            </a:r>
            <a:r>
              <a:rPr lang="en-IN" sz="1600" dirty="0"/>
              <a:t>             	</a:t>
            </a:r>
          </a:p>
          <a:p>
            <a:pPr algn="ctr"/>
            <a:r>
              <a:rPr lang="en-IN" sz="1600" dirty="0" err="1"/>
              <a:t>SkinConductance</a:t>
            </a:r>
            <a:endParaRPr lang="en-IN" sz="1600" dirty="0"/>
          </a:p>
          <a:p>
            <a:pPr algn="ctr"/>
            <a:r>
              <a:rPr lang="en-IN" sz="1600" dirty="0"/>
              <a:t>EEG</a:t>
            </a:r>
          </a:p>
          <a:p>
            <a:pPr algn="ctr"/>
            <a:r>
              <a:rPr lang="en-IN" sz="1600" dirty="0"/>
              <a:t>Temperature</a:t>
            </a:r>
          </a:p>
          <a:p>
            <a:pPr algn="ctr"/>
            <a:r>
              <a:rPr lang="en-IN" sz="1600" dirty="0" err="1"/>
              <a:t>PupilDiameter</a:t>
            </a:r>
            <a:endParaRPr lang="en-IN" sz="1600" dirty="0"/>
          </a:p>
          <a:p>
            <a:pPr algn="ctr"/>
            <a:r>
              <a:rPr lang="en-IN" sz="1600" dirty="0"/>
              <a:t>Smile Intensity</a:t>
            </a:r>
          </a:p>
          <a:p>
            <a:pPr algn="ctr"/>
            <a:r>
              <a:rPr lang="en-IN" sz="1600" dirty="0"/>
              <a:t>Emotional State</a:t>
            </a:r>
          </a:p>
          <a:p>
            <a:pPr algn="ctr"/>
            <a:r>
              <a:rPr lang="en-IN" sz="1600" dirty="0"/>
              <a:t>Cognitive State</a:t>
            </a:r>
          </a:p>
          <a:p>
            <a:pPr algn="ctr"/>
            <a:endParaRPr lang="en-IN" sz="1600" dirty="0"/>
          </a:p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3F6EBDD-FB9B-9C70-8EB7-92C3EA1A9189}"/>
              </a:ext>
            </a:extLst>
          </p:cNvPr>
          <p:cNvSpPr/>
          <p:nvPr/>
        </p:nvSpPr>
        <p:spPr>
          <a:xfrm>
            <a:off x="4607326" y="1410317"/>
            <a:ext cx="3212617" cy="359571"/>
          </a:xfrm>
          <a:custGeom>
            <a:avLst/>
            <a:gdLst>
              <a:gd name="connsiteX0" fmla="*/ 0 w 3212617"/>
              <a:gd name="connsiteY0" fmla="*/ 0 h 359571"/>
              <a:gd name="connsiteX1" fmla="*/ 3212617 w 3212617"/>
              <a:gd name="connsiteY1" fmla="*/ 0 h 359571"/>
              <a:gd name="connsiteX2" fmla="*/ 3212617 w 3212617"/>
              <a:gd name="connsiteY2" fmla="*/ 359571 h 359571"/>
              <a:gd name="connsiteX3" fmla="*/ 0 w 3212617"/>
              <a:gd name="connsiteY3" fmla="*/ 359571 h 359571"/>
              <a:gd name="connsiteX4" fmla="*/ 0 w 3212617"/>
              <a:gd name="connsiteY4" fmla="*/ 0 h 35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2617" h="359571" fill="none" extrusionOk="0">
                <a:moveTo>
                  <a:pt x="0" y="0"/>
                </a:moveTo>
                <a:cubicBezTo>
                  <a:pt x="528854" y="-123553"/>
                  <a:pt x="2069839" y="-135257"/>
                  <a:pt x="3212617" y="0"/>
                </a:cubicBezTo>
                <a:cubicBezTo>
                  <a:pt x="3181958" y="106048"/>
                  <a:pt x="3191276" y="320983"/>
                  <a:pt x="3212617" y="359571"/>
                </a:cubicBezTo>
                <a:cubicBezTo>
                  <a:pt x="2822855" y="285582"/>
                  <a:pt x="1106784" y="199777"/>
                  <a:pt x="0" y="359571"/>
                </a:cubicBezTo>
                <a:cubicBezTo>
                  <a:pt x="1964" y="305270"/>
                  <a:pt x="19261" y="55590"/>
                  <a:pt x="0" y="0"/>
                </a:cubicBezTo>
                <a:close/>
              </a:path>
              <a:path w="3212617" h="359571" stroke="0" extrusionOk="0">
                <a:moveTo>
                  <a:pt x="0" y="0"/>
                </a:moveTo>
                <a:cubicBezTo>
                  <a:pt x="384964" y="-80632"/>
                  <a:pt x="2212584" y="-12771"/>
                  <a:pt x="3212617" y="0"/>
                </a:cubicBezTo>
                <a:cubicBezTo>
                  <a:pt x="3216541" y="175448"/>
                  <a:pt x="3187946" y="308618"/>
                  <a:pt x="3212617" y="359571"/>
                </a:cubicBezTo>
                <a:cubicBezTo>
                  <a:pt x="2737467" y="213205"/>
                  <a:pt x="908986" y="456945"/>
                  <a:pt x="0" y="359571"/>
                </a:cubicBezTo>
                <a:cubicBezTo>
                  <a:pt x="3509" y="286495"/>
                  <a:pt x="-6012" y="177053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88792397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ea typeface="Petrona Bold" pitchFamily="34" charset="-122"/>
                <a:cs typeface="Petrona Bold" pitchFamily="34" charset="-120"/>
              </a:rPr>
              <a:t>Environmental Factors</a:t>
            </a:r>
            <a:endParaRPr lang="en-US" sz="23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5DAA279-0359-38C1-F7F1-27ADE38BC1C2}"/>
              </a:ext>
            </a:extLst>
          </p:cNvPr>
          <p:cNvSpPr/>
          <p:nvPr/>
        </p:nvSpPr>
        <p:spPr>
          <a:xfrm>
            <a:off x="4482972" y="2143432"/>
            <a:ext cx="3509388" cy="3775586"/>
          </a:xfrm>
          <a:custGeom>
            <a:avLst/>
            <a:gdLst>
              <a:gd name="connsiteX0" fmla="*/ 0 w 3509388"/>
              <a:gd name="connsiteY0" fmla="*/ 0 h 3775586"/>
              <a:gd name="connsiteX1" fmla="*/ 3509388 w 3509388"/>
              <a:gd name="connsiteY1" fmla="*/ 0 h 3775586"/>
              <a:gd name="connsiteX2" fmla="*/ 3509388 w 3509388"/>
              <a:gd name="connsiteY2" fmla="*/ 3775586 h 3775586"/>
              <a:gd name="connsiteX3" fmla="*/ 0 w 3509388"/>
              <a:gd name="connsiteY3" fmla="*/ 3775586 h 3775586"/>
              <a:gd name="connsiteX4" fmla="*/ 0 w 3509388"/>
              <a:gd name="connsiteY4" fmla="*/ 0 h 3775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9388" h="3775586" fill="none" extrusionOk="0">
                <a:moveTo>
                  <a:pt x="0" y="0"/>
                </a:moveTo>
                <a:cubicBezTo>
                  <a:pt x="627973" y="-55049"/>
                  <a:pt x="1878848" y="106262"/>
                  <a:pt x="3509388" y="0"/>
                </a:cubicBezTo>
                <a:cubicBezTo>
                  <a:pt x="3348810" y="1078937"/>
                  <a:pt x="3492074" y="3257973"/>
                  <a:pt x="3509388" y="3775586"/>
                </a:cubicBezTo>
                <a:cubicBezTo>
                  <a:pt x="2916260" y="3720834"/>
                  <a:pt x="1633809" y="3864144"/>
                  <a:pt x="0" y="3775586"/>
                </a:cubicBezTo>
                <a:cubicBezTo>
                  <a:pt x="-144845" y="2991072"/>
                  <a:pt x="168278" y="1479403"/>
                  <a:pt x="0" y="0"/>
                </a:cubicBezTo>
                <a:close/>
              </a:path>
              <a:path w="3509388" h="3775586" stroke="0" extrusionOk="0">
                <a:moveTo>
                  <a:pt x="0" y="0"/>
                </a:moveTo>
                <a:cubicBezTo>
                  <a:pt x="941866" y="112519"/>
                  <a:pt x="2561261" y="440"/>
                  <a:pt x="3509388" y="0"/>
                </a:cubicBezTo>
                <a:cubicBezTo>
                  <a:pt x="3575454" y="778538"/>
                  <a:pt x="3372763" y="2311606"/>
                  <a:pt x="3509388" y="3775586"/>
                </a:cubicBezTo>
                <a:cubicBezTo>
                  <a:pt x="3019161" y="3731030"/>
                  <a:pt x="634579" y="3828404"/>
                  <a:pt x="0" y="3775586"/>
                </a:cubicBezTo>
                <a:cubicBezTo>
                  <a:pt x="-109753" y="3380330"/>
                  <a:pt x="41551" y="473352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37409249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Environmental variables such as lighting, noise levels, and temperature were also recorded to understand their impact.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1750" dirty="0">
              <a:solidFill>
                <a:srgbClr val="272525"/>
              </a:solidFill>
              <a:ea typeface="Inter" pitchFamily="34" charset="-122"/>
              <a:cs typeface="Inter" pitchFamily="34" charset="-120"/>
            </a:endParaRPr>
          </a:p>
          <a:p>
            <a:pPr algn="ctr"/>
            <a:r>
              <a:rPr lang="en-IN" sz="1600" dirty="0" err="1"/>
              <a:t>ActivityLevel</a:t>
            </a:r>
            <a:endParaRPr lang="en-IN" sz="1600" dirty="0"/>
          </a:p>
          <a:p>
            <a:pPr algn="ctr"/>
            <a:r>
              <a:rPr lang="en-IN" sz="1600" dirty="0" err="1"/>
              <a:t>AmbientNoiseLevel</a:t>
            </a:r>
            <a:endParaRPr lang="en-IN" sz="1600" dirty="0"/>
          </a:p>
          <a:p>
            <a:pPr algn="ctr"/>
            <a:r>
              <a:rPr lang="en-IN" sz="1600" dirty="0" err="1"/>
              <a:t>LightingLevel</a:t>
            </a:r>
            <a:endParaRPr lang="en-IN" sz="1600" dirty="0"/>
          </a:p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ED0591DC-9D7B-49B2-56DA-67218003E1D6}"/>
              </a:ext>
            </a:extLst>
          </p:cNvPr>
          <p:cNvSpPr/>
          <p:nvPr/>
        </p:nvSpPr>
        <p:spPr>
          <a:xfrm>
            <a:off x="8646610" y="1410316"/>
            <a:ext cx="2983025" cy="359571"/>
          </a:xfrm>
          <a:custGeom>
            <a:avLst/>
            <a:gdLst>
              <a:gd name="connsiteX0" fmla="*/ 0 w 2983025"/>
              <a:gd name="connsiteY0" fmla="*/ 0 h 359571"/>
              <a:gd name="connsiteX1" fmla="*/ 2983025 w 2983025"/>
              <a:gd name="connsiteY1" fmla="*/ 0 h 359571"/>
              <a:gd name="connsiteX2" fmla="*/ 2983025 w 2983025"/>
              <a:gd name="connsiteY2" fmla="*/ 359571 h 359571"/>
              <a:gd name="connsiteX3" fmla="*/ 0 w 2983025"/>
              <a:gd name="connsiteY3" fmla="*/ 359571 h 359571"/>
              <a:gd name="connsiteX4" fmla="*/ 0 w 2983025"/>
              <a:gd name="connsiteY4" fmla="*/ 0 h 35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3025" h="359571" fill="none" extrusionOk="0">
                <a:moveTo>
                  <a:pt x="0" y="0"/>
                </a:moveTo>
                <a:cubicBezTo>
                  <a:pt x="591569" y="10656"/>
                  <a:pt x="2010275" y="-25377"/>
                  <a:pt x="2983025" y="0"/>
                </a:cubicBezTo>
                <a:cubicBezTo>
                  <a:pt x="3003423" y="72848"/>
                  <a:pt x="3010601" y="264136"/>
                  <a:pt x="2983025" y="359571"/>
                </a:cubicBezTo>
                <a:cubicBezTo>
                  <a:pt x="1971654" y="204801"/>
                  <a:pt x="1045503" y="377752"/>
                  <a:pt x="0" y="359571"/>
                </a:cubicBezTo>
                <a:cubicBezTo>
                  <a:pt x="21786" y="316582"/>
                  <a:pt x="-16427" y="145606"/>
                  <a:pt x="0" y="0"/>
                </a:cubicBezTo>
                <a:close/>
              </a:path>
              <a:path w="2983025" h="359571" stroke="0" extrusionOk="0">
                <a:moveTo>
                  <a:pt x="0" y="0"/>
                </a:moveTo>
                <a:cubicBezTo>
                  <a:pt x="523100" y="74510"/>
                  <a:pt x="1503561" y="-162447"/>
                  <a:pt x="2983025" y="0"/>
                </a:cubicBezTo>
                <a:cubicBezTo>
                  <a:pt x="2978075" y="53331"/>
                  <a:pt x="2958293" y="307512"/>
                  <a:pt x="2983025" y="359571"/>
                </a:cubicBezTo>
                <a:cubicBezTo>
                  <a:pt x="2614311" y="454233"/>
                  <a:pt x="1226625" y="296438"/>
                  <a:pt x="0" y="359571"/>
                </a:cubicBezTo>
                <a:cubicBezTo>
                  <a:pt x="-12839" y="208882"/>
                  <a:pt x="-1635" y="150390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79172142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ea typeface="Petrona Bold" pitchFamily="34" charset="-122"/>
                <a:cs typeface="Petrona Bold" pitchFamily="34" charset="-120"/>
              </a:rPr>
              <a:t>Engagement Levels</a:t>
            </a:r>
            <a:endParaRPr lang="en-US" sz="23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DCC20F6-EBA3-06FC-AEF1-38AEFB86E78E}"/>
              </a:ext>
            </a:extLst>
          </p:cNvPr>
          <p:cNvSpPr/>
          <p:nvPr/>
        </p:nvSpPr>
        <p:spPr>
          <a:xfrm>
            <a:off x="8424441" y="2143432"/>
            <a:ext cx="3427365" cy="3775586"/>
          </a:xfrm>
          <a:custGeom>
            <a:avLst/>
            <a:gdLst>
              <a:gd name="connsiteX0" fmla="*/ 0 w 3427365"/>
              <a:gd name="connsiteY0" fmla="*/ 0 h 3775586"/>
              <a:gd name="connsiteX1" fmla="*/ 3427365 w 3427365"/>
              <a:gd name="connsiteY1" fmla="*/ 0 h 3775586"/>
              <a:gd name="connsiteX2" fmla="*/ 3427365 w 3427365"/>
              <a:gd name="connsiteY2" fmla="*/ 3775586 h 3775586"/>
              <a:gd name="connsiteX3" fmla="*/ 0 w 3427365"/>
              <a:gd name="connsiteY3" fmla="*/ 3775586 h 3775586"/>
              <a:gd name="connsiteX4" fmla="*/ 0 w 3427365"/>
              <a:gd name="connsiteY4" fmla="*/ 0 h 3775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7365" h="3775586" fill="none" extrusionOk="0">
                <a:moveTo>
                  <a:pt x="0" y="0"/>
                </a:moveTo>
                <a:cubicBezTo>
                  <a:pt x="625229" y="-113131"/>
                  <a:pt x="2246582" y="95550"/>
                  <a:pt x="3427365" y="0"/>
                </a:cubicBezTo>
                <a:cubicBezTo>
                  <a:pt x="3329161" y="1465284"/>
                  <a:pt x="3265822" y="3105018"/>
                  <a:pt x="3427365" y="3775586"/>
                </a:cubicBezTo>
                <a:cubicBezTo>
                  <a:pt x="1994831" y="3814201"/>
                  <a:pt x="1337647" y="3690438"/>
                  <a:pt x="0" y="3775586"/>
                </a:cubicBezTo>
                <a:cubicBezTo>
                  <a:pt x="-49816" y="2676397"/>
                  <a:pt x="-121377" y="810761"/>
                  <a:pt x="0" y="0"/>
                </a:cubicBezTo>
                <a:close/>
              </a:path>
              <a:path w="3427365" h="3775586" stroke="0" extrusionOk="0">
                <a:moveTo>
                  <a:pt x="0" y="0"/>
                </a:moveTo>
                <a:cubicBezTo>
                  <a:pt x="791507" y="18235"/>
                  <a:pt x="3045314" y="90581"/>
                  <a:pt x="3427365" y="0"/>
                </a:cubicBezTo>
                <a:cubicBezTo>
                  <a:pt x="3562214" y="1187864"/>
                  <a:pt x="3498211" y="3031451"/>
                  <a:pt x="3427365" y="3775586"/>
                </a:cubicBezTo>
                <a:cubicBezTo>
                  <a:pt x="2151795" y="3855657"/>
                  <a:pt x="1362702" y="3881782"/>
                  <a:pt x="0" y="3775586"/>
                </a:cubicBezTo>
                <a:cubicBezTo>
                  <a:pt x="26766" y="2690760"/>
                  <a:pt x="-151194" y="1818005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62248480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Engagement levels were collected at regular intervals to serve as the target variable.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1750" dirty="0">
              <a:solidFill>
                <a:srgbClr val="272525"/>
              </a:solidFill>
              <a:ea typeface="Inter" pitchFamily="34" charset="-122"/>
              <a:cs typeface="Inter" pitchFamily="34" charset="-120"/>
            </a:endParaRPr>
          </a:p>
          <a:p>
            <a:pPr algn="ctr">
              <a:lnSpc>
                <a:spcPts val="285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</a:rPr>
              <a:t>Engagement Level</a:t>
            </a:r>
            <a:endParaRPr lang="en-US" sz="16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36D78BDE-95E8-D749-29A1-1559E73AF677}"/>
              </a:ext>
            </a:extLst>
          </p:cNvPr>
          <p:cNvSpPr/>
          <p:nvPr/>
        </p:nvSpPr>
        <p:spPr>
          <a:xfrm>
            <a:off x="3221010" y="6175108"/>
            <a:ext cx="6188460" cy="359571"/>
          </a:xfrm>
          <a:custGeom>
            <a:avLst/>
            <a:gdLst>
              <a:gd name="connsiteX0" fmla="*/ 0 w 6188460"/>
              <a:gd name="connsiteY0" fmla="*/ 0 h 359571"/>
              <a:gd name="connsiteX1" fmla="*/ 6188460 w 6188460"/>
              <a:gd name="connsiteY1" fmla="*/ 0 h 359571"/>
              <a:gd name="connsiteX2" fmla="*/ 6188460 w 6188460"/>
              <a:gd name="connsiteY2" fmla="*/ 359571 h 359571"/>
              <a:gd name="connsiteX3" fmla="*/ 0 w 6188460"/>
              <a:gd name="connsiteY3" fmla="*/ 359571 h 359571"/>
              <a:gd name="connsiteX4" fmla="*/ 0 w 6188460"/>
              <a:gd name="connsiteY4" fmla="*/ 0 h 35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88460" h="359571" fill="none" extrusionOk="0">
                <a:moveTo>
                  <a:pt x="0" y="0"/>
                </a:moveTo>
                <a:cubicBezTo>
                  <a:pt x="931749" y="127489"/>
                  <a:pt x="3823299" y="121007"/>
                  <a:pt x="6188460" y="0"/>
                </a:cubicBezTo>
                <a:cubicBezTo>
                  <a:pt x="6216867" y="59175"/>
                  <a:pt x="6211415" y="295136"/>
                  <a:pt x="6188460" y="359571"/>
                </a:cubicBezTo>
                <a:cubicBezTo>
                  <a:pt x="3475992" y="293005"/>
                  <a:pt x="2827894" y="439760"/>
                  <a:pt x="0" y="359571"/>
                </a:cubicBezTo>
                <a:cubicBezTo>
                  <a:pt x="-6914" y="191955"/>
                  <a:pt x="26609" y="49368"/>
                  <a:pt x="0" y="0"/>
                </a:cubicBezTo>
                <a:close/>
              </a:path>
              <a:path w="6188460" h="359571" stroke="0" extrusionOk="0">
                <a:moveTo>
                  <a:pt x="0" y="0"/>
                </a:moveTo>
                <a:cubicBezTo>
                  <a:pt x="950197" y="3320"/>
                  <a:pt x="5022500" y="166977"/>
                  <a:pt x="6188460" y="0"/>
                </a:cubicBezTo>
                <a:cubicBezTo>
                  <a:pt x="6215045" y="90903"/>
                  <a:pt x="6194282" y="190503"/>
                  <a:pt x="6188460" y="359571"/>
                </a:cubicBezTo>
                <a:cubicBezTo>
                  <a:pt x="4430335" y="290321"/>
                  <a:pt x="2641680" y="213121"/>
                  <a:pt x="0" y="359571"/>
                </a:cubicBezTo>
                <a:cubicBezTo>
                  <a:pt x="-8175" y="216724"/>
                  <a:pt x="22359" y="79483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18907888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ea typeface="Petrona Bold" pitchFamily="34" charset="-122"/>
              </a:rPr>
              <a:t>Emotional Monitoring dataset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1864328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FDFFFE"/>
            </a:gs>
            <a:gs pos="65000">
              <a:srgbClr val="F3FFFF"/>
            </a:gs>
            <a:gs pos="37992">
              <a:srgbClr val="FFFFFF"/>
            </a:gs>
            <a:gs pos="8000">
              <a:srgbClr val="EAFCFE"/>
            </a:gs>
          </a:gsLst>
          <a:lin ang="17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7169C0-7EAF-938E-14B7-CF06762D0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66928"/>
            <a:ext cx="11119104" cy="640080"/>
          </a:xfrm>
        </p:spPr>
        <p:txBody>
          <a:bodyPr/>
          <a:lstStyle/>
          <a:p>
            <a:r>
              <a:rPr lang="en-US" dirty="0"/>
              <a:t>Statistical Methods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D6070869-402B-F0CE-748B-0BF0AE47078C}"/>
              </a:ext>
            </a:extLst>
          </p:cNvPr>
          <p:cNvSpPr txBox="1">
            <a:spLocks/>
          </p:cNvSpPr>
          <p:nvPr/>
        </p:nvSpPr>
        <p:spPr>
          <a:xfrm>
            <a:off x="9188867" y="6194361"/>
            <a:ext cx="244867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94A09A9-5501-47C1-A89A-A340965A2BE2}" type="slidenum">
              <a:rPr lang="en-US" sz="1100" smtClean="0">
                <a:cs typeface="Segoe UI" panose="020B0502040204020203" pitchFamily="34" charset="0"/>
              </a:rPr>
              <a:pPr algn="r"/>
              <a:t>4</a:t>
            </a:fld>
            <a:endParaRPr lang="en-US" sz="1100" dirty="0"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2157A08-0863-2142-F200-8769F8B5F505}"/>
              </a:ext>
            </a:extLst>
          </p:cNvPr>
          <p:cNvSpPr txBox="1">
            <a:spLocks/>
          </p:cNvSpPr>
          <p:nvPr/>
        </p:nvSpPr>
        <p:spPr>
          <a:xfrm>
            <a:off x="1091634" y="1459883"/>
            <a:ext cx="3539360" cy="640080"/>
          </a:xfrm>
          <a:custGeom>
            <a:avLst/>
            <a:gdLst>
              <a:gd name="connsiteX0" fmla="*/ 0 w 3539360"/>
              <a:gd name="connsiteY0" fmla="*/ 0 h 640080"/>
              <a:gd name="connsiteX1" fmla="*/ 3539360 w 3539360"/>
              <a:gd name="connsiteY1" fmla="*/ 0 h 640080"/>
              <a:gd name="connsiteX2" fmla="*/ 3539360 w 3539360"/>
              <a:gd name="connsiteY2" fmla="*/ 640080 h 640080"/>
              <a:gd name="connsiteX3" fmla="*/ 0 w 3539360"/>
              <a:gd name="connsiteY3" fmla="*/ 640080 h 640080"/>
              <a:gd name="connsiteX4" fmla="*/ 0 w 3539360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9360" h="640080" fill="none" extrusionOk="0">
                <a:moveTo>
                  <a:pt x="0" y="0"/>
                </a:moveTo>
                <a:cubicBezTo>
                  <a:pt x="1464497" y="2518"/>
                  <a:pt x="2543615" y="147584"/>
                  <a:pt x="3539360" y="0"/>
                </a:cubicBezTo>
                <a:cubicBezTo>
                  <a:pt x="3491853" y="309214"/>
                  <a:pt x="3585918" y="558878"/>
                  <a:pt x="3539360" y="640080"/>
                </a:cubicBezTo>
                <a:cubicBezTo>
                  <a:pt x="2616340" y="601825"/>
                  <a:pt x="1640041" y="499884"/>
                  <a:pt x="0" y="640080"/>
                </a:cubicBezTo>
                <a:cubicBezTo>
                  <a:pt x="-7603" y="411099"/>
                  <a:pt x="29753" y="115752"/>
                  <a:pt x="0" y="0"/>
                </a:cubicBezTo>
                <a:close/>
              </a:path>
              <a:path w="3539360" h="640080" stroke="0" extrusionOk="0">
                <a:moveTo>
                  <a:pt x="0" y="0"/>
                </a:moveTo>
                <a:cubicBezTo>
                  <a:pt x="566407" y="-39699"/>
                  <a:pt x="3010583" y="94196"/>
                  <a:pt x="3539360" y="0"/>
                </a:cubicBezTo>
                <a:cubicBezTo>
                  <a:pt x="3574706" y="237223"/>
                  <a:pt x="3487987" y="403623"/>
                  <a:pt x="3539360" y="640080"/>
                </a:cubicBezTo>
                <a:cubicBezTo>
                  <a:pt x="2200186" y="638245"/>
                  <a:pt x="859202" y="724736"/>
                  <a:pt x="0" y="640080"/>
                </a:cubicBezTo>
                <a:cubicBezTo>
                  <a:pt x="38662" y="496591"/>
                  <a:pt x="2008" y="108903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452938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tx1"/>
                </a:solidFill>
              </a:rPr>
              <a:t>Hypothesis Testing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42B2406-875E-B299-C53E-B5981979FE98}"/>
              </a:ext>
            </a:extLst>
          </p:cNvPr>
          <p:cNvSpPr txBox="1">
            <a:spLocks/>
          </p:cNvSpPr>
          <p:nvPr/>
        </p:nvSpPr>
        <p:spPr>
          <a:xfrm>
            <a:off x="7356436" y="1581715"/>
            <a:ext cx="3539360" cy="640080"/>
          </a:xfrm>
          <a:custGeom>
            <a:avLst/>
            <a:gdLst>
              <a:gd name="connsiteX0" fmla="*/ 0 w 3539360"/>
              <a:gd name="connsiteY0" fmla="*/ 0 h 640080"/>
              <a:gd name="connsiteX1" fmla="*/ 3539360 w 3539360"/>
              <a:gd name="connsiteY1" fmla="*/ 0 h 640080"/>
              <a:gd name="connsiteX2" fmla="*/ 3539360 w 3539360"/>
              <a:gd name="connsiteY2" fmla="*/ 640080 h 640080"/>
              <a:gd name="connsiteX3" fmla="*/ 0 w 3539360"/>
              <a:gd name="connsiteY3" fmla="*/ 640080 h 640080"/>
              <a:gd name="connsiteX4" fmla="*/ 0 w 3539360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9360" h="640080" fill="none" extrusionOk="0">
                <a:moveTo>
                  <a:pt x="0" y="0"/>
                </a:moveTo>
                <a:cubicBezTo>
                  <a:pt x="474152" y="-27984"/>
                  <a:pt x="2272768" y="94117"/>
                  <a:pt x="3539360" y="0"/>
                </a:cubicBezTo>
                <a:cubicBezTo>
                  <a:pt x="3518251" y="237234"/>
                  <a:pt x="3492515" y="554081"/>
                  <a:pt x="3539360" y="640080"/>
                </a:cubicBezTo>
                <a:cubicBezTo>
                  <a:pt x="2970830" y="501576"/>
                  <a:pt x="1061912" y="605958"/>
                  <a:pt x="0" y="640080"/>
                </a:cubicBezTo>
                <a:cubicBezTo>
                  <a:pt x="22656" y="382827"/>
                  <a:pt x="-6427" y="114294"/>
                  <a:pt x="0" y="0"/>
                </a:cubicBezTo>
                <a:close/>
              </a:path>
              <a:path w="3539360" h="640080" stroke="0" extrusionOk="0">
                <a:moveTo>
                  <a:pt x="0" y="0"/>
                </a:moveTo>
                <a:cubicBezTo>
                  <a:pt x="1641132" y="-51465"/>
                  <a:pt x="2294051" y="-74462"/>
                  <a:pt x="3539360" y="0"/>
                </a:cubicBezTo>
                <a:cubicBezTo>
                  <a:pt x="3593581" y="141618"/>
                  <a:pt x="3522150" y="409151"/>
                  <a:pt x="3539360" y="640080"/>
                </a:cubicBezTo>
                <a:cubicBezTo>
                  <a:pt x="1874546" y="588647"/>
                  <a:pt x="882103" y="748746"/>
                  <a:pt x="0" y="640080"/>
                </a:cubicBezTo>
                <a:cubicBezTo>
                  <a:pt x="35516" y="329486"/>
                  <a:pt x="50559" y="119352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1021529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tx1"/>
                </a:solidFill>
              </a:rPr>
              <a:t>Correlation Tests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C39B989-6AE3-4D6D-DE11-635EAC029455}"/>
              </a:ext>
            </a:extLst>
          </p:cNvPr>
          <p:cNvSpPr txBox="1">
            <a:spLocks/>
          </p:cNvSpPr>
          <p:nvPr/>
        </p:nvSpPr>
        <p:spPr>
          <a:xfrm>
            <a:off x="2073613" y="2715010"/>
            <a:ext cx="5114762" cy="640080"/>
          </a:xfrm>
          <a:custGeom>
            <a:avLst/>
            <a:gdLst>
              <a:gd name="connsiteX0" fmla="*/ 0 w 5114762"/>
              <a:gd name="connsiteY0" fmla="*/ 0 h 640080"/>
              <a:gd name="connsiteX1" fmla="*/ 5114762 w 5114762"/>
              <a:gd name="connsiteY1" fmla="*/ 0 h 640080"/>
              <a:gd name="connsiteX2" fmla="*/ 5114762 w 5114762"/>
              <a:gd name="connsiteY2" fmla="*/ 640080 h 640080"/>
              <a:gd name="connsiteX3" fmla="*/ 0 w 5114762"/>
              <a:gd name="connsiteY3" fmla="*/ 640080 h 640080"/>
              <a:gd name="connsiteX4" fmla="*/ 0 w 5114762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14762" h="640080" fill="none" extrusionOk="0">
                <a:moveTo>
                  <a:pt x="0" y="0"/>
                </a:moveTo>
                <a:cubicBezTo>
                  <a:pt x="2239087" y="-98448"/>
                  <a:pt x="2968132" y="74922"/>
                  <a:pt x="5114762" y="0"/>
                </a:cubicBezTo>
                <a:cubicBezTo>
                  <a:pt x="5106802" y="299419"/>
                  <a:pt x="5139413" y="538812"/>
                  <a:pt x="5114762" y="640080"/>
                </a:cubicBezTo>
                <a:cubicBezTo>
                  <a:pt x="3845887" y="595624"/>
                  <a:pt x="629727" y="544638"/>
                  <a:pt x="0" y="640080"/>
                </a:cubicBezTo>
                <a:cubicBezTo>
                  <a:pt x="-33916" y="558375"/>
                  <a:pt x="18004" y="130673"/>
                  <a:pt x="0" y="0"/>
                </a:cubicBezTo>
                <a:close/>
              </a:path>
              <a:path w="5114762" h="640080" stroke="0" extrusionOk="0">
                <a:moveTo>
                  <a:pt x="0" y="0"/>
                </a:moveTo>
                <a:cubicBezTo>
                  <a:pt x="955721" y="125139"/>
                  <a:pt x="4438311" y="62767"/>
                  <a:pt x="5114762" y="0"/>
                </a:cubicBezTo>
                <a:cubicBezTo>
                  <a:pt x="5058367" y="293430"/>
                  <a:pt x="5059361" y="332216"/>
                  <a:pt x="5114762" y="640080"/>
                </a:cubicBezTo>
                <a:cubicBezTo>
                  <a:pt x="2790315" y="799799"/>
                  <a:pt x="608105" y="778083"/>
                  <a:pt x="0" y="640080"/>
                </a:cubicBezTo>
                <a:cubicBezTo>
                  <a:pt x="-44624" y="524388"/>
                  <a:pt x="55177" y="155835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58977759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tx1"/>
                </a:solidFill>
              </a:rPr>
              <a:t>Simple Linear Regression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2BD34A1-F6F7-EB23-4471-267F45CFEC11}"/>
              </a:ext>
            </a:extLst>
          </p:cNvPr>
          <p:cNvSpPr txBox="1">
            <a:spLocks/>
          </p:cNvSpPr>
          <p:nvPr/>
        </p:nvSpPr>
        <p:spPr>
          <a:xfrm>
            <a:off x="6016574" y="3690595"/>
            <a:ext cx="5218649" cy="640080"/>
          </a:xfrm>
          <a:custGeom>
            <a:avLst/>
            <a:gdLst>
              <a:gd name="connsiteX0" fmla="*/ 0 w 5218649"/>
              <a:gd name="connsiteY0" fmla="*/ 0 h 640080"/>
              <a:gd name="connsiteX1" fmla="*/ 5218649 w 5218649"/>
              <a:gd name="connsiteY1" fmla="*/ 0 h 640080"/>
              <a:gd name="connsiteX2" fmla="*/ 5218649 w 5218649"/>
              <a:gd name="connsiteY2" fmla="*/ 640080 h 640080"/>
              <a:gd name="connsiteX3" fmla="*/ 0 w 5218649"/>
              <a:gd name="connsiteY3" fmla="*/ 640080 h 640080"/>
              <a:gd name="connsiteX4" fmla="*/ 0 w 5218649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8649" h="640080" fill="none" extrusionOk="0">
                <a:moveTo>
                  <a:pt x="0" y="0"/>
                </a:moveTo>
                <a:cubicBezTo>
                  <a:pt x="1209797" y="8103"/>
                  <a:pt x="4553124" y="-52495"/>
                  <a:pt x="5218649" y="0"/>
                </a:cubicBezTo>
                <a:cubicBezTo>
                  <a:pt x="5203713" y="108195"/>
                  <a:pt x="5243252" y="418206"/>
                  <a:pt x="5218649" y="640080"/>
                </a:cubicBezTo>
                <a:cubicBezTo>
                  <a:pt x="4335821" y="722724"/>
                  <a:pt x="1931129" y="490485"/>
                  <a:pt x="0" y="640080"/>
                </a:cubicBezTo>
                <a:cubicBezTo>
                  <a:pt x="35018" y="466860"/>
                  <a:pt x="57171" y="125183"/>
                  <a:pt x="0" y="0"/>
                </a:cubicBezTo>
                <a:close/>
              </a:path>
              <a:path w="5218649" h="640080" stroke="0" extrusionOk="0">
                <a:moveTo>
                  <a:pt x="0" y="0"/>
                </a:moveTo>
                <a:cubicBezTo>
                  <a:pt x="1267466" y="-17137"/>
                  <a:pt x="3523913" y="67403"/>
                  <a:pt x="5218649" y="0"/>
                </a:cubicBezTo>
                <a:cubicBezTo>
                  <a:pt x="5189613" y="203851"/>
                  <a:pt x="5219589" y="519589"/>
                  <a:pt x="5218649" y="640080"/>
                </a:cubicBezTo>
                <a:cubicBezTo>
                  <a:pt x="2784497" y="618523"/>
                  <a:pt x="827642" y="749201"/>
                  <a:pt x="0" y="640080"/>
                </a:cubicBezTo>
                <a:cubicBezTo>
                  <a:pt x="55211" y="555520"/>
                  <a:pt x="-22839" y="191642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00474028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tx1"/>
                </a:solidFill>
              </a:rPr>
              <a:t>Multiple Linear Regression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32299A0-44BB-A0CE-AF45-539E22C00C4C}"/>
              </a:ext>
            </a:extLst>
          </p:cNvPr>
          <p:cNvSpPr txBox="1">
            <a:spLocks/>
          </p:cNvSpPr>
          <p:nvPr/>
        </p:nvSpPr>
        <p:spPr>
          <a:xfrm>
            <a:off x="865239" y="4374385"/>
            <a:ext cx="4640826" cy="640080"/>
          </a:xfrm>
          <a:custGeom>
            <a:avLst/>
            <a:gdLst>
              <a:gd name="connsiteX0" fmla="*/ 0 w 4640826"/>
              <a:gd name="connsiteY0" fmla="*/ 0 h 640080"/>
              <a:gd name="connsiteX1" fmla="*/ 4640826 w 4640826"/>
              <a:gd name="connsiteY1" fmla="*/ 0 h 640080"/>
              <a:gd name="connsiteX2" fmla="*/ 4640826 w 4640826"/>
              <a:gd name="connsiteY2" fmla="*/ 640080 h 640080"/>
              <a:gd name="connsiteX3" fmla="*/ 0 w 4640826"/>
              <a:gd name="connsiteY3" fmla="*/ 640080 h 640080"/>
              <a:gd name="connsiteX4" fmla="*/ 0 w 4640826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0826" h="640080" fill="none" extrusionOk="0">
                <a:moveTo>
                  <a:pt x="0" y="0"/>
                </a:moveTo>
                <a:cubicBezTo>
                  <a:pt x="897922" y="-26376"/>
                  <a:pt x="4036582" y="-147230"/>
                  <a:pt x="4640826" y="0"/>
                </a:cubicBezTo>
                <a:cubicBezTo>
                  <a:pt x="4597952" y="290965"/>
                  <a:pt x="4695520" y="566284"/>
                  <a:pt x="4640826" y="640080"/>
                </a:cubicBezTo>
                <a:cubicBezTo>
                  <a:pt x="3579901" y="660078"/>
                  <a:pt x="1814936" y="527215"/>
                  <a:pt x="0" y="640080"/>
                </a:cubicBezTo>
                <a:cubicBezTo>
                  <a:pt x="-52885" y="553183"/>
                  <a:pt x="53469" y="256912"/>
                  <a:pt x="0" y="0"/>
                </a:cubicBezTo>
                <a:close/>
              </a:path>
              <a:path w="4640826" h="640080" stroke="0" extrusionOk="0">
                <a:moveTo>
                  <a:pt x="0" y="0"/>
                </a:moveTo>
                <a:cubicBezTo>
                  <a:pt x="523987" y="45247"/>
                  <a:pt x="3851521" y="-159643"/>
                  <a:pt x="4640826" y="0"/>
                </a:cubicBezTo>
                <a:cubicBezTo>
                  <a:pt x="4588115" y="227982"/>
                  <a:pt x="4659833" y="560355"/>
                  <a:pt x="4640826" y="640080"/>
                </a:cubicBezTo>
                <a:cubicBezTo>
                  <a:pt x="3046164" y="523218"/>
                  <a:pt x="1790523" y="739247"/>
                  <a:pt x="0" y="640080"/>
                </a:cubicBezTo>
                <a:cubicBezTo>
                  <a:pt x="-30272" y="432351"/>
                  <a:pt x="51218" y="127498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6671731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tx1"/>
                </a:solidFill>
              </a:rPr>
              <a:t>Analysis of Variance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E934D9D-CB23-4A4F-0FBB-9F75ED9EB32C}"/>
              </a:ext>
            </a:extLst>
          </p:cNvPr>
          <p:cNvSpPr txBox="1">
            <a:spLocks/>
          </p:cNvSpPr>
          <p:nvPr/>
        </p:nvSpPr>
        <p:spPr>
          <a:xfrm>
            <a:off x="7021376" y="4750150"/>
            <a:ext cx="4258092" cy="640080"/>
          </a:xfrm>
          <a:custGeom>
            <a:avLst/>
            <a:gdLst>
              <a:gd name="connsiteX0" fmla="*/ 0 w 4258092"/>
              <a:gd name="connsiteY0" fmla="*/ 0 h 640080"/>
              <a:gd name="connsiteX1" fmla="*/ 4258092 w 4258092"/>
              <a:gd name="connsiteY1" fmla="*/ 0 h 640080"/>
              <a:gd name="connsiteX2" fmla="*/ 4258092 w 4258092"/>
              <a:gd name="connsiteY2" fmla="*/ 640080 h 640080"/>
              <a:gd name="connsiteX3" fmla="*/ 0 w 4258092"/>
              <a:gd name="connsiteY3" fmla="*/ 640080 h 640080"/>
              <a:gd name="connsiteX4" fmla="*/ 0 w 4258092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8092" h="640080" fill="none" extrusionOk="0">
                <a:moveTo>
                  <a:pt x="0" y="0"/>
                </a:moveTo>
                <a:cubicBezTo>
                  <a:pt x="557393" y="-102815"/>
                  <a:pt x="2350958" y="-9080"/>
                  <a:pt x="4258092" y="0"/>
                </a:cubicBezTo>
                <a:cubicBezTo>
                  <a:pt x="4255226" y="219815"/>
                  <a:pt x="4300223" y="450604"/>
                  <a:pt x="4258092" y="640080"/>
                </a:cubicBezTo>
                <a:cubicBezTo>
                  <a:pt x="3791775" y="602682"/>
                  <a:pt x="727015" y="541780"/>
                  <a:pt x="0" y="640080"/>
                </a:cubicBezTo>
                <a:cubicBezTo>
                  <a:pt x="34736" y="323373"/>
                  <a:pt x="-7746" y="151793"/>
                  <a:pt x="0" y="0"/>
                </a:cubicBezTo>
                <a:close/>
              </a:path>
              <a:path w="4258092" h="640080" stroke="0" extrusionOk="0">
                <a:moveTo>
                  <a:pt x="0" y="0"/>
                </a:moveTo>
                <a:cubicBezTo>
                  <a:pt x="713256" y="-124949"/>
                  <a:pt x="3361972" y="-101501"/>
                  <a:pt x="4258092" y="0"/>
                </a:cubicBezTo>
                <a:cubicBezTo>
                  <a:pt x="4250457" y="118891"/>
                  <a:pt x="4289293" y="561088"/>
                  <a:pt x="4258092" y="640080"/>
                </a:cubicBezTo>
                <a:cubicBezTo>
                  <a:pt x="3745775" y="584715"/>
                  <a:pt x="768032" y="599441"/>
                  <a:pt x="0" y="640080"/>
                </a:cubicBezTo>
                <a:cubicBezTo>
                  <a:pt x="12628" y="573563"/>
                  <a:pt x="21261" y="136569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77173262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tx1"/>
                </a:solidFill>
              </a:rPr>
              <a:t>Correlation Analysis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F7C11EA-ADCF-6926-0184-CB4B6161BA51}"/>
              </a:ext>
            </a:extLst>
          </p:cNvPr>
          <p:cNvSpPr txBox="1">
            <a:spLocks/>
          </p:cNvSpPr>
          <p:nvPr/>
        </p:nvSpPr>
        <p:spPr>
          <a:xfrm>
            <a:off x="3949240" y="5736843"/>
            <a:ext cx="3539360" cy="640080"/>
          </a:xfrm>
          <a:custGeom>
            <a:avLst/>
            <a:gdLst>
              <a:gd name="connsiteX0" fmla="*/ 0 w 3539360"/>
              <a:gd name="connsiteY0" fmla="*/ 0 h 640080"/>
              <a:gd name="connsiteX1" fmla="*/ 3539360 w 3539360"/>
              <a:gd name="connsiteY1" fmla="*/ 0 h 640080"/>
              <a:gd name="connsiteX2" fmla="*/ 3539360 w 3539360"/>
              <a:gd name="connsiteY2" fmla="*/ 640080 h 640080"/>
              <a:gd name="connsiteX3" fmla="*/ 0 w 3539360"/>
              <a:gd name="connsiteY3" fmla="*/ 640080 h 640080"/>
              <a:gd name="connsiteX4" fmla="*/ 0 w 3539360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9360" h="640080" fill="none" extrusionOk="0">
                <a:moveTo>
                  <a:pt x="0" y="0"/>
                </a:moveTo>
                <a:cubicBezTo>
                  <a:pt x="741981" y="82952"/>
                  <a:pt x="2507342" y="125092"/>
                  <a:pt x="3539360" y="0"/>
                </a:cubicBezTo>
                <a:cubicBezTo>
                  <a:pt x="3516975" y="253728"/>
                  <a:pt x="3509540" y="554799"/>
                  <a:pt x="3539360" y="640080"/>
                </a:cubicBezTo>
                <a:cubicBezTo>
                  <a:pt x="1989651" y="809954"/>
                  <a:pt x="1346578" y="529062"/>
                  <a:pt x="0" y="640080"/>
                </a:cubicBezTo>
                <a:cubicBezTo>
                  <a:pt x="51249" y="404964"/>
                  <a:pt x="48078" y="261261"/>
                  <a:pt x="0" y="0"/>
                </a:cubicBezTo>
                <a:close/>
              </a:path>
              <a:path w="3539360" h="640080" stroke="0" extrusionOk="0">
                <a:moveTo>
                  <a:pt x="0" y="0"/>
                </a:moveTo>
                <a:cubicBezTo>
                  <a:pt x="1489379" y="-99586"/>
                  <a:pt x="2165972" y="-24028"/>
                  <a:pt x="3539360" y="0"/>
                </a:cubicBezTo>
                <a:cubicBezTo>
                  <a:pt x="3508554" y="260769"/>
                  <a:pt x="3590680" y="421995"/>
                  <a:pt x="3539360" y="640080"/>
                </a:cubicBezTo>
                <a:cubicBezTo>
                  <a:pt x="3168633" y="724079"/>
                  <a:pt x="1684667" y="488919"/>
                  <a:pt x="0" y="640080"/>
                </a:cubicBezTo>
                <a:cubicBezTo>
                  <a:pt x="-10959" y="463645"/>
                  <a:pt x="-46012" y="160620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0110191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tx1"/>
                </a:solidFill>
              </a:rPr>
              <a:t>Visualizations </a:t>
            </a:r>
          </a:p>
        </p:txBody>
      </p:sp>
    </p:spTree>
    <p:extLst>
      <p:ext uri="{BB962C8B-B14F-4D97-AF65-F5344CB8AC3E}">
        <p14:creationId xmlns:p14="http://schemas.microsoft.com/office/powerpoint/2010/main" val="3990171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FDFFFE"/>
            </a:gs>
            <a:gs pos="65000">
              <a:srgbClr val="F3FFFF"/>
            </a:gs>
            <a:gs pos="37992">
              <a:srgbClr val="FFFFFF"/>
            </a:gs>
            <a:gs pos="8000">
              <a:srgbClr val="EAFCFE"/>
            </a:gs>
          </a:gsLst>
          <a:lin ang="174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B2C8B-0B72-6B3A-EACB-5E8E06A4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3D8BA4-108A-595F-72A7-F1B1777DA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66928"/>
            <a:ext cx="11119104" cy="640080"/>
          </a:xfrm>
        </p:spPr>
        <p:txBody>
          <a:bodyPr/>
          <a:lstStyle/>
          <a:p>
            <a:r>
              <a:rPr lang="en-US" dirty="0"/>
              <a:t>Statistical Methods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5F77ACDE-A281-8667-13C9-232A76B64C5F}"/>
              </a:ext>
            </a:extLst>
          </p:cNvPr>
          <p:cNvSpPr txBox="1">
            <a:spLocks/>
          </p:cNvSpPr>
          <p:nvPr/>
        </p:nvSpPr>
        <p:spPr>
          <a:xfrm>
            <a:off x="9188867" y="6194361"/>
            <a:ext cx="244867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94A09A9-5501-47C1-A89A-A340965A2BE2}" type="slidenum">
              <a:rPr lang="en-US" sz="1100" smtClean="0">
                <a:cs typeface="Segoe UI" panose="020B0502040204020203" pitchFamily="34" charset="0"/>
              </a:rPr>
              <a:pPr algn="r"/>
              <a:t>5</a:t>
            </a:fld>
            <a:endParaRPr lang="en-US" sz="1100" dirty="0"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7046897-BAC5-1119-C970-21D4F598281C}"/>
              </a:ext>
            </a:extLst>
          </p:cNvPr>
          <p:cNvSpPr txBox="1">
            <a:spLocks/>
          </p:cNvSpPr>
          <p:nvPr/>
        </p:nvSpPr>
        <p:spPr>
          <a:xfrm>
            <a:off x="1091634" y="1459883"/>
            <a:ext cx="3539360" cy="640080"/>
          </a:xfrm>
          <a:custGeom>
            <a:avLst/>
            <a:gdLst>
              <a:gd name="connsiteX0" fmla="*/ 0 w 3539360"/>
              <a:gd name="connsiteY0" fmla="*/ 0 h 640080"/>
              <a:gd name="connsiteX1" fmla="*/ 3539360 w 3539360"/>
              <a:gd name="connsiteY1" fmla="*/ 0 h 640080"/>
              <a:gd name="connsiteX2" fmla="*/ 3539360 w 3539360"/>
              <a:gd name="connsiteY2" fmla="*/ 640080 h 640080"/>
              <a:gd name="connsiteX3" fmla="*/ 0 w 3539360"/>
              <a:gd name="connsiteY3" fmla="*/ 640080 h 640080"/>
              <a:gd name="connsiteX4" fmla="*/ 0 w 3539360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9360" h="640080" fill="none" extrusionOk="0">
                <a:moveTo>
                  <a:pt x="0" y="0"/>
                </a:moveTo>
                <a:cubicBezTo>
                  <a:pt x="1464497" y="2518"/>
                  <a:pt x="2543615" y="147584"/>
                  <a:pt x="3539360" y="0"/>
                </a:cubicBezTo>
                <a:cubicBezTo>
                  <a:pt x="3491853" y="309214"/>
                  <a:pt x="3585918" y="558878"/>
                  <a:pt x="3539360" y="640080"/>
                </a:cubicBezTo>
                <a:cubicBezTo>
                  <a:pt x="2616340" y="601825"/>
                  <a:pt x="1640041" y="499884"/>
                  <a:pt x="0" y="640080"/>
                </a:cubicBezTo>
                <a:cubicBezTo>
                  <a:pt x="-7603" y="411099"/>
                  <a:pt x="29753" y="115752"/>
                  <a:pt x="0" y="0"/>
                </a:cubicBezTo>
                <a:close/>
              </a:path>
              <a:path w="3539360" h="640080" stroke="0" extrusionOk="0">
                <a:moveTo>
                  <a:pt x="0" y="0"/>
                </a:moveTo>
                <a:cubicBezTo>
                  <a:pt x="566407" y="-39699"/>
                  <a:pt x="3010583" y="94196"/>
                  <a:pt x="3539360" y="0"/>
                </a:cubicBezTo>
                <a:cubicBezTo>
                  <a:pt x="3574706" y="237223"/>
                  <a:pt x="3487987" y="403623"/>
                  <a:pt x="3539360" y="640080"/>
                </a:cubicBezTo>
                <a:cubicBezTo>
                  <a:pt x="2200186" y="638245"/>
                  <a:pt x="859202" y="724736"/>
                  <a:pt x="0" y="640080"/>
                </a:cubicBezTo>
                <a:cubicBezTo>
                  <a:pt x="38662" y="496591"/>
                  <a:pt x="2008" y="108903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452938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tx1"/>
                </a:solidFill>
              </a:rPr>
              <a:t>Hypothesis Testing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2E88686-B6CD-BFBE-8A5F-6C67AD50EC2F}"/>
              </a:ext>
            </a:extLst>
          </p:cNvPr>
          <p:cNvSpPr txBox="1">
            <a:spLocks/>
          </p:cNvSpPr>
          <p:nvPr/>
        </p:nvSpPr>
        <p:spPr>
          <a:xfrm>
            <a:off x="7356436" y="1581715"/>
            <a:ext cx="3539360" cy="640080"/>
          </a:xfrm>
          <a:custGeom>
            <a:avLst/>
            <a:gdLst>
              <a:gd name="connsiteX0" fmla="*/ 0 w 3539360"/>
              <a:gd name="connsiteY0" fmla="*/ 0 h 640080"/>
              <a:gd name="connsiteX1" fmla="*/ 3539360 w 3539360"/>
              <a:gd name="connsiteY1" fmla="*/ 0 h 640080"/>
              <a:gd name="connsiteX2" fmla="*/ 3539360 w 3539360"/>
              <a:gd name="connsiteY2" fmla="*/ 640080 h 640080"/>
              <a:gd name="connsiteX3" fmla="*/ 0 w 3539360"/>
              <a:gd name="connsiteY3" fmla="*/ 640080 h 640080"/>
              <a:gd name="connsiteX4" fmla="*/ 0 w 3539360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9360" h="640080" fill="none" extrusionOk="0">
                <a:moveTo>
                  <a:pt x="0" y="0"/>
                </a:moveTo>
                <a:cubicBezTo>
                  <a:pt x="474152" y="-27984"/>
                  <a:pt x="2272768" y="94117"/>
                  <a:pt x="3539360" y="0"/>
                </a:cubicBezTo>
                <a:cubicBezTo>
                  <a:pt x="3518251" y="237234"/>
                  <a:pt x="3492515" y="554081"/>
                  <a:pt x="3539360" y="640080"/>
                </a:cubicBezTo>
                <a:cubicBezTo>
                  <a:pt x="2970830" y="501576"/>
                  <a:pt x="1061912" y="605958"/>
                  <a:pt x="0" y="640080"/>
                </a:cubicBezTo>
                <a:cubicBezTo>
                  <a:pt x="22656" y="382827"/>
                  <a:pt x="-6427" y="114294"/>
                  <a:pt x="0" y="0"/>
                </a:cubicBezTo>
                <a:close/>
              </a:path>
              <a:path w="3539360" h="640080" stroke="0" extrusionOk="0">
                <a:moveTo>
                  <a:pt x="0" y="0"/>
                </a:moveTo>
                <a:cubicBezTo>
                  <a:pt x="1641132" y="-51465"/>
                  <a:pt x="2294051" y="-74462"/>
                  <a:pt x="3539360" y="0"/>
                </a:cubicBezTo>
                <a:cubicBezTo>
                  <a:pt x="3593581" y="141618"/>
                  <a:pt x="3522150" y="409151"/>
                  <a:pt x="3539360" y="640080"/>
                </a:cubicBezTo>
                <a:cubicBezTo>
                  <a:pt x="1874546" y="588647"/>
                  <a:pt x="882103" y="748746"/>
                  <a:pt x="0" y="640080"/>
                </a:cubicBezTo>
                <a:cubicBezTo>
                  <a:pt x="35516" y="329486"/>
                  <a:pt x="50559" y="119352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10215294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tx1"/>
                </a:solidFill>
              </a:rPr>
              <a:t>Correlation Tests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CFA5E28-4D8E-B42D-87B9-3D581CCCDCB3}"/>
              </a:ext>
            </a:extLst>
          </p:cNvPr>
          <p:cNvSpPr txBox="1">
            <a:spLocks/>
          </p:cNvSpPr>
          <p:nvPr/>
        </p:nvSpPr>
        <p:spPr>
          <a:xfrm>
            <a:off x="2073613" y="2715010"/>
            <a:ext cx="5114762" cy="640080"/>
          </a:xfrm>
          <a:custGeom>
            <a:avLst/>
            <a:gdLst>
              <a:gd name="connsiteX0" fmla="*/ 0 w 5114762"/>
              <a:gd name="connsiteY0" fmla="*/ 0 h 640080"/>
              <a:gd name="connsiteX1" fmla="*/ 5114762 w 5114762"/>
              <a:gd name="connsiteY1" fmla="*/ 0 h 640080"/>
              <a:gd name="connsiteX2" fmla="*/ 5114762 w 5114762"/>
              <a:gd name="connsiteY2" fmla="*/ 640080 h 640080"/>
              <a:gd name="connsiteX3" fmla="*/ 0 w 5114762"/>
              <a:gd name="connsiteY3" fmla="*/ 640080 h 640080"/>
              <a:gd name="connsiteX4" fmla="*/ 0 w 5114762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14762" h="640080" fill="none" extrusionOk="0">
                <a:moveTo>
                  <a:pt x="0" y="0"/>
                </a:moveTo>
                <a:cubicBezTo>
                  <a:pt x="2239087" y="-98448"/>
                  <a:pt x="2968132" y="74922"/>
                  <a:pt x="5114762" y="0"/>
                </a:cubicBezTo>
                <a:cubicBezTo>
                  <a:pt x="5106802" y="299419"/>
                  <a:pt x="5139413" y="538812"/>
                  <a:pt x="5114762" y="640080"/>
                </a:cubicBezTo>
                <a:cubicBezTo>
                  <a:pt x="3845887" y="595624"/>
                  <a:pt x="629727" y="544638"/>
                  <a:pt x="0" y="640080"/>
                </a:cubicBezTo>
                <a:cubicBezTo>
                  <a:pt x="-33916" y="558375"/>
                  <a:pt x="18004" y="130673"/>
                  <a:pt x="0" y="0"/>
                </a:cubicBezTo>
                <a:close/>
              </a:path>
              <a:path w="5114762" h="640080" stroke="0" extrusionOk="0">
                <a:moveTo>
                  <a:pt x="0" y="0"/>
                </a:moveTo>
                <a:cubicBezTo>
                  <a:pt x="955721" y="125139"/>
                  <a:pt x="4438311" y="62767"/>
                  <a:pt x="5114762" y="0"/>
                </a:cubicBezTo>
                <a:cubicBezTo>
                  <a:pt x="5058367" y="293430"/>
                  <a:pt x="5059361" y="332216"/>
                  <a:pt x="5114762" y="640080"/>
                </a:cubicBezTo>
                <a:cubicBezTo>
                  <a:pt x="2790315" y="799799"/>
                  <a:pt x="608105" y="778083"/>
                  <a:pt x="0" y="640080"/>
                </a:cubicBezTo>
                <a:cubicBezTo>
                  <a:pt x="-44624" y="524388"/>
                  <a:pt x="55177" y="155835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58977759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tx1"/>
                </a:solidFill>
              </a:rPr>
              <a:t>Simple Linear Regression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35D9CE6-5AA6-B7FD-BE57-1A7E72F321AC}"/>
              </a:ext>
            </a:extLst>
          </p:cNvPr>
          <p:cNvSpPr txBox="1">
            <a:spLocks/>
          </p:cNvSpPr>
          <p:nvPr/>
        </p:nvSpPr>
        <p:spPr>
          <a:xfrm>
            <a:off x="6016574" y="3690595"/>
            <a:ext cx="5218649" cy="640080"/>
          </a:xfrm>
          <a:custGeom>
            <a:avLst/>
            <a:gdLst>
              <a:gd name="connsiteX0" fmla="*/ 0 w 5218649"/>
              <a:gd name="connsiteY0" fmla="*/ 0 h 640080"/>
              <a:gd name="connsiteX1" fmla="*/ 5218649 w 5218649"/>
              <a:gd name="connsiteY1" fmla="*/ 0 h 640080"/>
              <a:gd name="connsiteX2" fmla="*/ 5218649 w 5218649"/>
              <a:gd name="connsiteY2" fmla="*/ 640080 h 640080"/>
              <a:gd name="connsiteX3" fmla="*/ 0 w 5218649"/>
              <a:gd name="connsiteY3" fmla="*/ 640080 h 640080"/>
              <a:gd name="connsiteX4" fmla="*/ 0 w 5218649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8649" h="640080" fill="none" extrusionOk="0">
                <a:moveTo>
                  <a:pt x="0" y="0"/>
                </a:moveTo>
                <a:cubicBezTo>
                  <a:pt x="1209797" y="8103"/>
                  <a:pt x="4553124" y="-52495"/>
                  <a:pt x="5218649" y="0"/>
                </a:cubicBezTo>
                <a:cubicBezTo>
                  <a:pt x="5203713" y="108195"/>
                  <a:pt x="5243252" y="418206"/>
                  <a:pt x="5218649" y="640080"/>
                </a:cubicBezTo>
                <a:cubicBezTo>
                  <a:pt x="4335821" y="722724"/>
                  <a:pt x="1931129" y="490485"/>
                  <a:pt x="0" y="640080"/>
                </a:cubicBezTo>
                <a:cubicBezTo>
                  <a:pt x="35018" y="466860"/>
                  <a:pt x="57171" y="125183"/>
                  <a:pt x="0" y="0"/>
                </a:cubicBezTo>
                <a:close/>
              </a:path>
              <a:path w="5218649" h="640080" stroke="0" extrusionOk="0">
                <a:moveTo>
                  <a:pt x="0" y="0"/>
                </a:moveTo>
                <a:cubicBezTo>
                  <a:pt x="1267466" y="-17137"/>
                  <a:pt x="3523913" y="67403"/>
                  <a:pt x="5218649" y="0"/>
                </a:cubicBezTo>
                <a:cubicBezTo>
                  <a:pt x="5189613" y="203851"/>
                  <a:pt x="5219589" y="519589"/>
                  <a:pt x="5218649" y="640080"/>
                </a:cubicBezTo>
                <a:cubicBezTo>
                  <a:pt x="2784497" y="618523"/>
                  <a:pt x="827642" y="749201"/>
                  <a:pt x="0" y="640080"/>
                </a:cubicBezTo>
                <a:cubicBezTo>
                  <a:pt x="55211" y="555520"/>
                  <a:pt x="-22839" y="191642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00474028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tx1"/>
                </a:solidFill>
              </a:rPr>
              <a:t>Multiple Linear Regression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C3ACB0A-D899-29DF-C3DB-C9F15ED85423}"/>
              </a:ext>
            </a:extLst>
          </p:cNvPr>
          <p:cNvSpPr txBox="1">
            <a:spLocks/>
          </p:cNvSpPr>
          <p:nvPr/>
        </p:nvSpPr>
        <p:spPr>
          <a:xfrm>
            <a:off x="865239" y="4374385"/>
            <a:ext cx="4640826" cy="640080"/>
          </a:xfrm>
          <a:custGeom>
            <a:avLst/>
            <a:gdLst>
              <a:gd name="connsiteX0" fmla="*/ 0 w 4640826"/>
              <a:gd name="connsiteY0" fmla="*/ 0 h 640080"/>
              <a:gd name="connsiteX1" fmla="*/ 4640826 w 4640826"/>
              <a:gd name="connsiteY1" fmla="*/ 0 h 640080"/>
              <a:gd name="connsiteX2" fmla="*/ 4640826 w 4640826"/>
              <a:gd name="connsiteY2" fmla="*/ 640080 h 640080"/>
              <a:gd name="connsiteX3" fmla="*/ 0 w 4640826"/>
              <a:gd name="connsiteY3" fmla="*/ 640080 h 640080"/>
              <a:gd name="connsiteX4" fmla="*/ 0 w 4640826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0826" h="640080" fill="none" extrusionOk="0">
                <a:moveTo>
                  <a:pt x="0" y="0"/>
                </a:moveTo>
                <a:cubicBezTo>
                  <a:pt x="897922" y="-26376"/>
                  <a:pt x="4036582" y="-147230"/>
                  <a:pt x="4640826" y="0"/>
                </a:cubicBezTo>
                <a:cubicBezTo>
                  <a:pt x="4597952" y="290965"/>
                  <a:pt x="4695520" y="566284"/>
                  <a:pt x="4640826" y="640080"/>
                </a:cubicBezTo>
                <a:cubicBezTo>
                  <a:pt x="3579901" y="660078"/>
                  <a:pt x="1814936" y="527215"/>
                  <a:pt x="0" y="640080"/>
                </a:cubicBezTo>
                <a:cubicBezTo>
                  <a:pt x="-52885" y="553183"/>
                  <a:pt x="53469" y="256912"/>
                  <a:pt x="0" y="0"/>
                </a:cubicBezTo>
                <a:close/>
              </a:path>
              <a:path w="4640826" h="640080" stroke="0" extrusionOk="0">
                <a:moveTo>
                  <a:pt x="0" y="0"/>
                </a:moveTo>
                <a:cubicBezTo>
                  <a:pt x="523987" y="45247"/>
                  <a:pt x="3851521" y="-159643"/>
                  <a:pt x="4640826" y="0"/>
                </a:cubicBezTo>
                <a:cubicBezTo>
                  <a:pt x="4588115" y="227982"/>
                  <a:pt x="4659833" y="560355"/>
                  <a:pt x="4640826" y="640080"/>
                </a:cubicBezTo>
                <a:cubicBezTo>
                  <a:pt x="3046164" y="523218"/>
                  <a:pt x="1790523" y="739247"/>
                  <a:pt x="0" y="640080"/>
                </a:cubicBezTo>
                <a:cubicBezTo>
                  <a:pt x="-30272" y="432351"/>
                  <a:pt x="51218" y="127498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6671731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tx1"/>
                </a:solidFill>
              </a:rPr>
              <a:t>Analysis of Variance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A4810A6-2796-DA44-C049-BF5554CF7CA4}"/>
              </a:ext>
            </a:extLst>
          </p:cNvPr>
          <p:cNvSpPr txBox="1">
            <a:spLocks/>
          </p:cNvSpPr>
          <p:nvPr/>
        </p:nvSpPr>
        <p:spPr>
          <a:xfrm>
            <a:off x="7021376" y="4750150"/>
            <a:ext cx="4258092" cy="640080"/>
          </a:xfrm>
          <a:custGeom>
            <a:avLst/>
            <a:gdLst>
              <a:gd name="connsiteX0" fmla="*/ 0 w 4258092"/>
              <a:gd name="connsiteY0" fmla="*/ 0 h 640080"/>
              <a:gd name="connsiteX1" fmla="*/ 4258092 w 4258092"/>
              <a:gd name="connsiteY1" fmla="*/ 0 h 640080"/>
              <a:gd name="connsiteX2" fmla="*/ 4258092 w 4258092"/>
              <a:gd name="connsiteY2" fmla="*/ 640080 h 640080"/>
              <a:gd name="connsiteX3" fmla="*/ 0 w 4258092"/>
              <a:gd name="connsiteY3" fmla="*/ 640080 h 640080"/>
              <a:gd name="connsiteX4" fmla="*/ 0 w 4258092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8092" h="640080" fill="none" extrusionOk="0">
                <a:moveTo>
                  <a:pt x="0" y="0"/>
                </a:moveTo>
                <a:cubicBezTo>
                  <a:pt x="557393" y="-102815"/>
                  <a:pt x="2350958" y="-9080"/>
                  <a:pt x="4258092" y="0"/>
                </a:cubicBezTo>
                <a:cubicBezTo>
                  <a:pt x="4255226" y="219815"/>
                  <a:pt x="4300223" y="450604"/>
                  <a:pt x="4258092" y="640080"/>
                </a:cubicBezTo>
                <a:cubicBezTo>
                  <a:pt x="3791775" y="602682"/>
                  <a:pt x="727015" y="541780"/>
                  <a:pt x="0" y="640080"/>
                </a:cubicBezTo>
                <a:cubicBezTo>
                  <a:pt x="34736" y="323373"/>
                  <a:pt x="-7746" y="151793"/>
                  <a:pt x="0" y="0"/>
                </a:cubicBezTo>
                <a:close/>
              </a:path>
              <a:path w="4258092" h="640080" stroke="0" extrusionOk="0">
                <a:moveTo>
                  <a:pt x="0" y="0"/>
                </a:moveTo>
                <a:cubicBezTo>
                  <a:pt x="713256" y="-124949"/>
                  <a:pt x="3361972" y="-101501"/>
                  <a:pt x="4258092" y="0"/>
                </a:cubicBezTo>
                <a:cubicBezTo>
                  <a:pt x="4250457" y="118891"/>
                  <a:pt x="4289293" y="561088"/>
                  <a:pt x="4258092" y="640080"/>
                </a:cubicBezTo>
                <a:cubicBezTo>
                  <a:pt x="3745775" y="584715"/>
                  <a:pt x="768032" y="599441"/>
                  <a:pt x="0" y="640080"/>
                </a:cubicBezTo>
                <a:cubicBezTo>
                  <a:pt x="12628" y="573563"/>
                  <a:pt x="21261" y="136569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77173262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tx1"/>
                </a:solidFill>
              </a:rPr>
              <a:t>Correlation Analysis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10C355D-3B3B-C3C1-C07D-FB79ADCB7AC2}"/>
              </a:ext>
            </a:extLst>
          </p:cNvPr>
          <p:cNvSpPr txBox="1">
            <a:spLocks/>
          </p:cNvSpPr>
          <p:nvPr/>
        </p:nvSpPr>
        <p:spPr>
          <a:xfrm>
            <a:off x="3949240" y="5736843"/>
            <a:ext cx="3539360" cy="640080"/>
          </a:xfrm>
          <a:custGeom>
            <a:avLst/>
            <a:gdLst>
              <a:gd name="connsiteX0" fmla="*/ 0 w 3539360"/>
              <a:gd name="connsiteY0" fmla="*/ 0 h 640080"/>
              <a:gd name="connsiteX1" fmla="*/ 3539360 w 3539360"/>
              <a:gd name="connsiteY1" fmla="*/ 0 h 640080"/>
              <a:gd name="connsiteX2" fmla="*/ 3539360 w 3539360"/>
              <a:gd name="connsiteY2" fmla="*/ 640080 h 640080"/>
              <a:gd name="connsiteX3" fmla="*/ 0 w 3539360"/>
              <a:gd name="connsiteY3" fmla="*/ 640080 h 640080"/>
              <a:gd name="connsiteX4" fmla="*/ 0 w 3539360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9360" h="640080" fill="none" extrusionOk="0">
                <a:moveTo>
                  <a:pt x="0" y="0"/>
                </a:moveTo>
                <a:cubicBezTo>
                  <a:pt x="741981" y="82952"/>
                  <a:pt x="2507342" y="125092"/>
                  <a:pt x="3539360" y="0"/>
                </a:cubicBezTo>
                <a:cubicBezTo>
                  <a:pt x="3516975" y="253728"/>
                  <a:pt x="3509540" y="554799"/>
                  <a:pt x="3539360" y="640080"/>
                </a:cubicBezTo>
                <a:cubicBezTo>
                  <a:pt x="1989651" y="809954"/>
                  <a:pt x="1346578" y="529062"/>
                  <a:pt x="0" y="640080"/>
                </a:cubicBezTo>
                <a:cubicBezTo>
                  <a:pt x="51249" y="404964"/>
                  <a:pt x="48078" y="261261"/>
                  <a:pt x="0" y="0"/>
                </a:cubicBezTo>
                <a:close/>
              </a:path>
              <a:path w="3539360" h="640080" stroke="0" extrusionOk="0">
                <a:moveTo>
                  <a:pt x="0" y="0"/>
                </a:moveTo>
                <a:cubicBezTo>
                  <a:pt x="1489379" y="-99586"/>
                  <a:pt x="2165972" y="-24028"/>
                  <a:pt x="3539360" y="0"/>
                </a:cubicBezTo>
                <a:cubicBezTo>
                  <a:pt x="3508554" y="260769"/>
                  <a:pt x="3590680" y="421995"/>
                  <a:pt x="3539360" y="640080"/>
                </a:cubicBezTo>
                <a:cubicBezTo>
                  <a:pt x="3168633" y="724079"/>
                  <a:pt x="1684667" y="488919"/>
                  <a:pt x="0" y="640080"/>
                </a:cubicBezTo>
                <a:cubicBezTo>
                  <a:pt x="-10959" y="463645"/>
                  <a:pt x="-46012" y="160620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0110191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400" b="0" dirty="0">
                <a:solidFill>
                  <a:schemeClr val="tx1"/>
                </a:solidFill>
              </a:rPr>
              <a:t>Visualizations </a:t>
            </a:r>
          </a:p>
        </p:txBody>
      </p:sp>
    </p:spTree>
    <p:extLst>
      <p:ext uri="{BB962C8B-B14F-4D97-AF65-F5344CB8AC3E}">
        <p14:creationId xmlns:p14="http://schemas.microsoft.com/office/powerpoint/2010/main" val="3265873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DD93B-050E-F19D-434F-EE39D318E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48" y="255974"/>
            <a:ext cx="11119104" cy="640080"/>
          </a:xfrm>
        </p:spPr>
        <p:txBody>
          <a:bodyPr/>
          <a:lstStyle/>
          <a:p>
            <a:r>
              <a:rPr lang="en-US" sz="2400" dirty="0"/>
              <a:t>Comparing engagement levels across cognitive and emotional state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E93615-D7AA-731E-0131-9D5D80418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281" y="1378843"/>
            <a:ext cx="3863084" cy="29847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72EBD7-F9DB-0C81-CE9E-6EC6C4A6A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116" y="1378844"/>
            <a:ext cx="3863084" cy="2946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7982F49F-D8DE-8720-6195-D092638A9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178" y="4324994"/>
            <a:ext cx="557683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"engaged"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 seems to exhibit higher median and a wider range of engagement levels than the other emotional states.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Differences among emotional states are visually evident. Further statistical testing (e.g., ANOVA and post-hoc Tukey HSD) is needed to determine if these differences are significant. 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57AF652-DECC-E2AB-FAF2-C6A7228F3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170" y="4324994"/>
            <a:ext cx="557683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cognitive states ("distracted" and "focused") have similar ranges for engagement level. The medians also appear close, suggesting little difference in central tendency.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testing (like ANOVA) is required to confirm whether the apparent similarity is statistically significant or not.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12E6B-3992-1C5B-DFB2-0B4F8DF5D92C}"/>
              </a:ext>
            </a:extLst>
          </p:cNvPr>
          <p:cNvSpPr txBox="1"/>
          <p:nvPr/>
        </p:nvSpPr>
        <p:spPr>
          <a:xfrm>
            <a:off x="3291840" y="7681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 Cognitive/Emotional states impact engagement levels?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3371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D83115-C04F-D5C4-E3F7-BD410E9E4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66928"/>
            <a:ext cx="11119104" cy="640080"/>
          </a:xfrm>
          <a:custGeom>
            <a:avLst/>
            <a:gdLst>
              <a:gd name="connsiteX0" fmla="*/ 0 w 11119104"/>
              <a:gd name="connsiteY0" fmla="*/ 0 h 640080"/>
              <a:gd name="connsiteX1" fmla="*/ 11119104 w 11119104"/>
              <a:gd name="connsiteY1" fmla="*/ 0 h 640080"/>
              <a:gd name="connsiteX2" fmla="*/ 11119104 w 11119104"/>
              <a:gd name="connsiteY2" fmla="*/ 640080 h 640080"/>
              <a:gd name="connsiteX3" fmla="*/ 0 w 11119104"/>
              <a:gd name="connsiteY3" fmla="*/ 640080 h 640080"/>
              <a:gd name="connsiteX4" fmla="*/ 0 w 11119104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19104" h="640080" fill="none" extrusionOk="0">
                <a:moveTo>
                  <a:pt x="0" y="0"/>
                </a:moveTo>
                <a:cubicBezTo>
                  <a:pt x="2154767" y="96183"/>
                  <a:pt x="6319209" y="36787"/>
                  <a:pt x="11119104" y="0"/>
                </a:cubicBezTo>
                <a:cubicBezTo>
                  <a:pt x="11156551" y="217162"/>
                  <a:pt x="11067968" y="516366"/>
                  <a:pt x="11119104" y="640080"/>
                </a:cubicBezTo>
                <a:cubicBezTo>
                  <a:pt x="9585714" y="662923"/>
                  <a:pt x="1189887" y="532271"/>
                  <a:pt x="0" y="640080"/>
                </a:cubicBezTo>
                <a:cubicBezTo>
                  <a:pt x="-47210" y="324689"/>
                  <a:pt x="-41783" y="111163"/>
                  <a:pt x="0" y="0"/>
                </a:cubicBezTo>
                <a:close/>
              </a:path>
              <a:path w="11119104" h="640080" stroke="0" extrusionOk="0">
                <a:moveTo>
                  <a:pt x="0" y="0"/>
                </a:moveTo>
                <a:cubicBezTo>
                  <a:pt x="2537467" y="95660"/>
                  <a:pt x="5740246" y="55381"/>
                  <a:pt x="11119104" y="0"/>
                </a:cubicBezTo>
                <a:cubicBezTo>
                  <a:pt x="11174892" y="177917"/>
                  <a:pt x="11131850" y="527370"/>
                  <a:pt x="11119104" y="640080"/>
                </a:cubicBezTo>
                <a:cubicBezTo>
                  <a:pt x="7641963" y="775496"/>
                  <a:pt x="1518321" y="781685"/>
                  <a:pt x="0" y="640080"/>
                </a:cubicBezTo>
                <a:cubicBezTo>
                  <a:pt x="3820" y="554828"/>
                  <a:pt x="-8769" y="215971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410246672">
                  <ask:type>
                    <ask:lineSketchCurved/>
                  </ask:type>
                </ask:lineSketchStyleProps>
              </a:ext>
            </a:extLst>
          </a:ln>
        </p:spPr>
        <p:txBody>
          <a:bodyPr/>
          <a:lstStyle/>
          <a:p>
            <a:r>
              <a:rPr lang="en-US" dirty="0"/>
              <a:t>HYPOTHESIS TESTING and ANOVA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C97F5-6F1F-4C24-CDA9-ADFE70EA2FE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2359" y="1463274"/>
            <a:ext cx="10947745" cy="103563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H0: Mean engagement levels across Cognitive/Emotional State groups are equal.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H1: Mean engagement levels differ across Cognitive/Emotional State groups.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E6C476-6714-F526-9AD9-5E12B7A5FF06}"/>
              </a:ext>
            </a:extLst>
          </p:cNvPr>
          <p:cNvSpPr txBox="1"/>
          <p:nvPr/>
        </p:nvSpPr>
        <p:spPr>
          <a:xfrm>
            <a:off x="876751" y="4629776"/>
            <a:ext cx="76986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P-value is not significant, we fail to reject the null hypothesis.</a:t>
            </a:r>
            <a:endParaRPr lang="en-IN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E9367C-A6EF-D749-442F-FDDC260EC2E4}"/>
              </a:ext>
            </a:extLst>
          </p:cNvPr>
          <p:cNvSpPr txBox="1"/>
          <p:nvPr/>
        </p:nvSpPr>
        <p:spPr>
          <a:xfrm>
            <a:off x="1513281" y="5980311"/>
            <a:ext cx="10127031" cy="369332"/>
          </a:xfrm>
          <a:custGeom>
            <a:avLst/>
            <a:gdLst>
              <a:gd name="connsiteX0" fmla="*/ 0 w 10127031"/>
              <a:gd name="connsiteY0" fmla="*/ 0 h 369332"/>
              <a:gd name="connsiteX1" fmla="*/ 10127031 w 10127031"/>
              <a:gd name="connsiteY1" fmla="*/ 0 h 369332"/>
              <a:gd name="connsiteX2" fmla="*/ 10127031 w 10127031"/>
              <a:gd name="connsiteY2" fmla="*/ 369332 h 369332"/>
              <a:gd name="connsiteX3" fmla="*/ 0 w 10127031"/>
              <a:gd name="connsiteY3" fmla="*/ 369332 h 369332"/>
              <a:gd name="connsiteX4" fmla="*/ 0 w 10127031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27031" h="369332" fill="none" extrusionOk="0">
                <a:moveTo>
                  <a:pt x="0" y="0"/>
                </a:moveTo>
                <a:cubicBezTo>
                  <a:pt x="2005177" y="-14931"/>
                  <a:pt x="5984696" y="31643"/>
                  <a:pt x="10127031" y="0"/>
                </a:cubicBezTo>
                <a:cubicBezTo>
                  <a:pt x="10103394" y="89286"/>
                  <a:pt x="10104215" y="325286"/>
                  <a:pt x="10127031" y="369332"/>
                </a:cubicBezTo>
                <a:cubicBezTo>
                  <a:pt x="8984421" y="307278"/>
                  <a:pt x="1974202" y="315629"/>
                  <a:pt x="0" y="369332"/>
                </a:cubicBezTo>
                <a:cubicBezTo>
                  <a:pt x="11702" y="276114"/>
                  <a:pt x="-26135" y="122869"/>
                  <a:pt x="0" y="0"/>
                </a:cubicBezTo>
                <a:close/>
              </a:path>
              <a:path w="10127031" h="369332" stroke="0" extrusionOk="0">
                <a:moveTo>
                  <a:pt x="0" y="0"/>
                </a:moveTo>
                <a:cubicBezTo>
                  <a:pt x="1632735" y="-5264"/>
                  <a:pt x="7339570" y="84467"/>
                  <a:pt x="10127031" y="0"/>
                </a:cubicBezTo>
                <a:cubicBezTo>
                  <a:pt x="10115033" y="107005"/>
                  <a:pt x="10136538" y="262998"/>
                  <a:pt x="10127031" y="369332"/>
                </a:cubicBezTo>
                <a:cubicBezTo>
                  <a:pt x="5274216" y="475652"/>
                  <a:pt x="4221235" y="361683"/>
                  <a:pt x="0" y="369332"/>
                </a:cubicBezTo>
                <a:cubicBezTo>
                  <a:pt x="18407" y="330757"/>
                  <a:pt x="-5004" y="54251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b="1" dirty="0"/>
              <a:t>Cognitive State and Emotional State both do not significantly affect the </a:t>
            </a:r>
            <a:r>
              <a:rPr lang="en-US" b="1" dirty="0" err="1"/>
              <a:t>EngagementLevel</a:t>
            </a:r>
            <a:endParaRPr lang="en-IN" b="1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52A675EA-9ABE-453C-2C52-947BDB93AA28}"/>
              </a:ext>
            </a:extLst>
          </p:cNvPr>
          <p:cNvSpPr txBox="1">
            <a:spLocks/>
          </p:cNvSpPr>
          <p:nvPr/>
        </p:nvSpPr>
        <p:spPr>
          <a:xfrm>
            <a:off x="876751" y="4987283"/>
            <a:ext cx="11189011" cy="1035632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/>
                </a:solidFill>
              </a:rPr>
              <a:t>Tukeys</a:t>
            </a:r>
            <a:r>
              <a:rPr lang="en-US" sz="2000" dirty="0">
                <a:solidFill>
                  <a:schemeClr val="tx1"/>
                </a:solidFill>
              </a:rPr>
              <a:t> Test was supposed to be conducted but no significant differences were found thus it didn’t perform.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3D4F2A-EDF4-0D1A-EB83-ED42EE7BB7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376"/>
          <a:stretch/>
        </p:blipFill>
        <p:spPr>
          <a:xfrm>
            <a:off x="993157" y="2573232"/>
            <a:ext cx="4355592" cy="19440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1C49C0-0A33-AB53-05A5-623289651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973" y="2565782"/>
            <a:ext cx="5246870" cy="19432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4350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CA0A2-4698-8F4C-AF71-8FC829BFC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4EC588-3D68-AB62-20F1-B54C00BDE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66928"/>
            <a:ext cx="11119104" cy="640080"/>
          </a:xfrm>
          <a:custGeom>
            <a:avLst/>
            <a:gdLst>
              <a:gd name="connsiteX0" fmla="*/ 0 w 11119104"/>
              <a:gd name="connsiteY0" fmla="*/ 0 h 640080"/>
              <a:gd name="connsiteX1" fmla="*/ 11119104 w 11119104"/>
              <a:gd name="connsiteY1" fmla="*/ 0 h 640080"/>
              <a:gd name="connsiteX2" fmla="*/ 11119104 w 11119104"/>
              <a:gd name="connsiteY2" fmla="*/ 640080 h 640080"/>
              <a:gd name="connsiteX3" fmla="*/ 0 w 11119104"/>
              <a:gd name="connsiteY3" fmla="*/ 640080 h 640080"/>
              <a:gd name="connsiteX4" fmla="*/ 0 w 11119104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19104" h="640080" fill="none" extrusionOk="0">
                <a:moveTo>
                  <a:pt x="0" y="0"/>
                </a:moveTo>
                <a:cubicBezTo>
                  <a:pt x="3611514" y="23919"/>
                  <a:pt x="6448814" y="124709"/>
                  <a:pt x="11119104" y="0"/>
                </a:cubicBezTo>
                <a:cubicBezTo>
                  <a:pt x="11066942" y="100268"/>
                  <a:pt x="11171554" y="342388"/>
                  <a:pt x="11119104" y="640080"/>
                </a:cubicBezTo>
                <a:cubicBezTo>
                  <a:pt x="6124079" y="716274"/>
                  <a:pt x="3061084" y="799565"/>
                  <a:pt x="0" y="640080"/>
                </a:cubicBezTo>
                <a:cubicBezTo>
                  <a:pt x="-21349" y="512283"/>
                  <a:pt x="-23086" y="235367"/>
                  <a:pt x="0" y="0"/>
                </a:cubicBezTo>
                <a:close/>
              </a:path>
              <a:path w="11119104" h="640080" stroke="0" extrusionOk="0">
                <a:moveTo>
                  <a:pt x="0" y="0"/>
                </a:moveTo>
                <a:cubicBezTo>
                  <a:pt x="4243077" y="-51062"/>
                  <a:pt x="7493173" y="67894"/>
                  <a:pt x="11119104" y="0"/>
                </a:cubicBezTo>
                <a:cubicBezTo>
                  <a:pt x="11085168" y="68656"/>
                  <a:pt x="11165917" y="452597"/>
                  <a:pt x="11119104" y="640080"/>
                </a:cubicBezTo>
                <a:cubicBezTo>
                  <a:pt x="8825884" y="727538"/>
                  <a:pt x="4379585" y="522691"/>
                  <a:pt x="0" y="640080"/>
                </a:cubicBezTo>
                <a:cubicBezTo>
                  <a:pt x="-41473" y="570189"/>
                  <a:pt x="44913" y="162762"/>
                  <a:pt x="0" y="0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089953502">
                  <ask:type>
                    <ask:lineSketchCurved/>
                  </ask:type>
                </ask:lineSketchStyleProps>
              </a:ext>
            </a:extLst>
          </a:ln>
        </p:spPr>
        <p:txBody>
          <a:bodyPr/>
          <a:lstStyle/>
          <a:p>
            <a:r>
              <a:rPr lang="en-US" dirty="0"/>
              <a:t>Simple Linear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5F0D2-CBFB-4B85-3886-F28475DBBF69}"/>
              </a:ext>
            </a:extLst>
          </p:cNvPr>
          <p:cNvSpPr txBox="1"/>
          <p:nvPr/>
        </p:nvSpPr>
        <p:spPr>
          <a:xfrm>
            <a:off x="521208" y="1489013"/>
            <a:ext cx="12575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“Does engagement level change with physiological responses like heart rate or skin conductance?”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“How does the surrounding environment (ambient noise or lighting) influence a person’s engagement?”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9EF9439-F28E-99F1-80E4-210C253B6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382249"/>
              </p:ext>
            </p:extLst>
          </p:nvPr>
        </p:nvGraphicFramePr>
        <p:xfrm>
          <a:off x="1047136" y="2393581"/>
          <a:ext cx="10097728" cy="2975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929">
                  <a:extLst>
                    <a:ext uri="{9D8B030D-6E8A-4147-A177-3AD203B41FA5}">
                      <a16:colId xmlns:a16="http://schemas.microsoft.com/office/drawing/2014/main" val="1161722230"/>
                    </a:ext>
                  </a:extLst>
                </a:gridCol>
                <a:gridCol w="1323631">
                  <a:extLst>
                    <a:ext uri="{9D8B030D-6E8A-4147-A177-3AD203B41FA5}">
                      <a16:colId xmlns:a16="http://schemas.microsoft.com/office/drawing/2014/main" val="3258806010"/>
                    </a:ext>
                  </a:extLst>
                </a:gridCol>
                <a:gridCol w="1775280">
                  <a:extLst>
                    <a:ext uri="{9D8B030D-6E8A-4147-A177-3AD203B41FA5}">
                      <a16:colId xmlns:a16="http://schemas.microsoft.com/office/drawing/2014/main" val="990984062"/>
                    </a:ext>
                  </a:extLst>
                </a:gridCol>
                <a:gridCol w="1775280">
                  <a:extLst>
                    <a:ext uri="{9D8B030D-6E8A-4147-A177-3AD203B41FA5}">
                      <a16:colId xmlns:a16="http://schemas.microsoft.com/office/drawing/2014/main" val="753555889"/>
                    </a:ext>
                  </a:extLst>
                </a:gridCol>
                <a:gridCol w="2996608">
                  <a:extLst>
                    <a:ext uri="{9D8B030D-6E8A-4147-A177-3AD203B41FA5}">
                      <a16:colId xmlns:a16="http://schemas.microsoft.com/office/drawing/2014/main" val="3696185346"/>
                    </a:ext>
                  </a:extLst>
                </a:gridCol>
              </a:tblGrid>
              <a:tr h="414513">
                <a:tc>
                  <a:txBody>
                    <a:bodyPr/>
                    <a:lstStyle/>
                    <a:p>
                      <a:r>
                        <a:rPr lang="en-IN" dirty="0"/>
                        <a:t>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 squared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313457"/>
                  </a:ext>
                </a:extLst>
              </a:tr>
              <a:tr h="414513">
                <a:tc>
                  <a:txBody>
                    <a:bodyPr/>
                    <a:lstStyle/>
                    <a:p>
                      <a:r>
                        <a:rPr lang="en-IN" dirty="0"/>
                        <a:t>Heart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a significant predictor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349705"/>
                  </a:ext>
                </a:extLst>
              </a:tr>
              <a:tr h="715460">
                <a:tc>
                  <a:txBody>
                    <a:bodyPr/>
                    <a:lstStyle/>
                    <a:p>
                      <a:r>
                        <a:rPr lang="en-IN" dirty="0"/>
                        <a:t>Skin Conductance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highlight>
                            <a:srgbClr val="00FF00"/>
                          </a:highlight>
                        </a:rPr>
                        <a:t>0.053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1.76e-13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Significant Negative Relationship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654117"/>
                  </a:ext>
                </a:extLst>
              </a:tr>
              <a:tr h="715460">
                <a:tc>
                  <a:txBody>
                    <a:bodyPr/>
                    <a:lstStyle/>
                    <a:p>
                      <a:r>
                        <a:rPr lang="en-IN" dirty="0"/>
                        <a:t>Ambient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Not a significant predictor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934664"/>
                  </a:ext>
                </a:extLst>
              </a:tr>
              <a:tr h="715460">
                <a:tc>
                  <a:txBody>
                    <a:bodyPr/>
                    <a:lstStyle/>
                    <a:p>
                      <a:r>
                        <a:rPr lang="en-IN" dirty="0"/>
                        <a:t>Lighting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Not a significant predictor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62383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0D2F29E-33FE-4F51-D47A-3E49416F2CD9}"/>
              </a:ext>
            </a:extLst>
          </p:cNvPr>
          <p:cNvSpPr txBox="1"/>
          <p:nvPr/>
        </p:nvSpPr>
        <p:spPr>
          <a:xfrm>
            <a:off x="2231431" y="5627224"/>
            <a:ext cx="7698657" cy="923330"/>
          </a:xfrm>
          <a:custGeom>
            <a:avLst/>
            <a:gdLst>
              <a:gd name="connsiteX0" fmla="*/ 0 w 7698657"/>
              <a:gd name="connsiteY0" fmla="*/ 0 h 923330"/>
              <a:gd name="connsiteX1" fmla="*/ 7698657 w 7698657"/>
              <a:gd name="connsiteY1" fmla="*/ 0 h 923330"/>
              <a:gd name="connsiteX2" fmla="*/ 7698657 w 7698657"/>
              <a:gd name="connsiteY2" fmla="*/ 923330 h 923330"/>
              <a:gd name="connsiteX3" fmla="*/ 0 w 7698657"/>
              <a:gd name="connsiteY3" fmla="*/ 923330 h 923330"/>
              <a:gd name="connsiteX4" fmla="*/ 0 w 7698657"/>
              <a:gd name="connsiteY4" fmla="*/ 0 h 92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98657" h="923330" fill="none" extrusionOk="0">
                <a:moveTo>
                  <a:pt x="0" y="0"/>
                </a:moveTo>
                <a:cubicBezTo>
                  <a:pt x="2109135" y="-67124"/>
                  <a:pt x="5608357" y="-115058"/>
                  <a:pt x="7698657" y="0"/>
                </a:cubicBezTo>
                <a:cubicBezTo>
                  <a:pt x="7772275" y="397046"/>
                  <a:pt x="7660930" y="785131"/>
                  <a:pt x="7698657" y="923330"/>
                </a:cubicBezTo>
                <a:cubicBezTo>
                  <a:pt x="4931434" y="792628"/>
                  <a:pt x="3692532" y="882871"/>
                  <a:pt x="0" y="923330"/>
                </a:cubicBezTo>
                <a:cubicBezTo>
                  <a:pt x="68927" y="669812"/>
                  <a:pt x="-55625" y="425351"/>
                  <a:pt x="0" y="0"/>
                </a:cubicBezTo>
                <a:close/>
              </a:path>
              <a:path w="7698657" h="923330" stroke="0" extrusionOk="0">
                <a:moveTo>
                  <a:pt x="0" y="0"/>
                </a:moveTo>
                <a:cubicBezTo>
                  <a:pt x="3620426" y="86292"/>
                  <a:pt x="4643138" y="47274"/>
                  <a:pt x="7698657" y="0"/>
                </a:cubicBezTo>
                <a:cubicBezTo>
                  <a:pt x="7716248" y="196828"/>
                  <a:pt x="7647578" y="778489"/>
                  <a:pt x="7698657" y="923330"/>
                </a:cubicBezTo>
                <a:cubicBezTo>
                  <a:pt x="6520468" y="938366"/>
                  <a:pt x="2339226" y="1003169"/>
                  <a:pt x="0" y="923330"/>
                </a:cubicBezTo>
                <a:cubicBezTo>
                  <a:pt x="-76841" y="717857"/>
                  <a:pt x="60185" y="267275"/>
                  <a:pt x="0" y="0"/>
                </a:cubicBezTo>
                <a:close/>
              </a:path>
            </a:pathLst>
          </a:custGeom>
          <a:solidFill>
            <a:srgbClr val="12D6FF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3182683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SkinConductance</a:t>
            </a:r>
            <a:r>
              <a:rPr lang="en-US" dirty="0"/>
              <a:t> is the only significant predictor of Engagement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predictors (</a:t>
            </a:r>
            <a:r>
              <a:rPr lang="en-US" dirty="0" err="1"/>
              <a:t>HeartRate</a:t>
            </a:r>
            <a:r>
              <a:rPr lang="en-US" dirty="0"/>
              <a:t>, </a:t>
            </a:r>
            <a:r>
              <a:rPr lang="en-US" dirty="0" err="1"/>
              <a:t>AmbientNoiseLevel</a:t>
            </a:r>
            <a:r>
              <a:rPr lang="en-US" dirty="0"/>
              <a:t>, and </a:t>
            </a:r>
            <a:r>
              <a:rPr lang="en-US" dirty="0" err="1"/>
              <a:t>LightingLevel</a:t>
            </a:r>
            <a:r>
              <a:rPr lang="en-US" dirty="0"/>
              <a:t>) are not significant.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65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5C617-51EA-4121-785B-D6952C9B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38DECF-65EA-157E-8FCC-CFAE7142C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66928"/>
            <a:ext cx="11119104" cy="640080"/>
          </a:xfrm>
          <a:custGeom>
            <a:avLst/>
            <a:gdLst>
              <a:gd name="connsiteX0" fmla="*/ 0 w 11119104"/>
              <a:gd name="connsiteY0" fmla="*/ 0 h 640080"/>
              <a:gd name="connsiteX1" fmla="*/ 11119104 w 11119104"/>
              <a:gd name="connsiteY1" fmla="*/ 0 h 640080"/>
              <a:gd name="connsiteX2" fmla="*/ 11119104 w 11119104"/>
              <a:gd name="connsiteY2" fmla="*/ 640080 h 640080"/>
              <a:gd name="connsiteX3" fmla="*/ 0 w 11119104"/>
              <a:gd name="connsiteY3" fmla="*/ 640080 h 640080"/>
              <a:gd name="connsiteX4" fmla="*/ 0 w 11119104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19104" h="640080" fill="none" extrusionOk="0">
                <a:moveTo>
                  <a:pt x="0" y="0"/>
                </a:moveTo>
                <a:cubicBezTo>
                  <a:pt x="5321931" y="154684"/>
                  <a:pt x="9073446" y="39419"/>
                  <a:pt x="11119104" y="0"/>
                </a:cubicBezTo>
                <a:cubicBezTo>
                  <a:pt x="11120269" y="253224"/>
                  <a:pt x="11142212" y="334500"/>
                  <a:pt x="11119104" y="640080"/>
                </a:cubicBezTo>
                <a:cubicBezTo>
                  <a:pt x="8374076" y="651947"/>
                  <a:pt x="2157017" y="749417"/>
                  <a:pt x="0" y="640080"/>
                </a:cubicBezTo>
                <a:cubicBezTo>
                  <a:pt x="34292" y="404949"/>
                  <a:pt x="39573" y="271317"/>
                  <a:pt x="0" y="0"/>
                </a:cubicBezTo>
                <a:close/>
              </a:path>
              <a:path w="11119104" h="640080" stroke="0" extrusionOk="0">
                <a:moveTo>
                  <a:pt x="0" y="0"/>
                </a:moveTo>
                <a:cubicBezTo>
                  <a:pt x="2258412" y="-154369"/>
                  <a:pt x="8815405" y="-165"/>
                  <a:pt x="11119104" y="0"/>
                </a:cubicBezTo>
                <a:cubicBezTo>
                  <a:pt x="11144995" y="156318"/>
                  <a:pt x="11154552" y="443588"/>
                  <a:pt x="11119104" y="640080"/>
                </a:cubicBezTo>
                <a:cubicBezTo>
                  <a:pt x="8958456" y="733741"/>
                  <a:pt x="1113594" y="548280"/>
                  <a:pt x="0" y="640080"/>
                </a:cubicBezTo>
                <a:cubicBezTo>
                  <a:pt x="4581" y="444775"/>
                  <a:pt x="15830" y="98045"/>
                  <a:pt x="0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17452259">
                  <ask:type>
                    <ask:lineSketchCurved/>
                  </ask:type>
                </ask:lineSketchStyleProps>
              </a:ext>
            </a:extLst>
          </a:ln>
        </p:spPr>
        <p:txBody>
          <a:bodyPr/>
          <a:lstStyle/>
          <a:p>
            <a:r>
              <a:rPr lang="en-US" dirty="0"/>
              <a:t>Multiple Linear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2A5F2-D935-8BDD-C35A-A7D6E5AFF679}"/>
              </a:ext>
            </a:extLst>
          </p:cNvPr>
          <p:cNvSpPr txBox="1"/>
          <p:nvPr/>
        </p:nvSpPr>
        <p:spPr>
          <a:xfrm>
            <a:off x="521208" y="1319997"/>
            <a:ext cx="115528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"What factors, such as heart rate and environmental conditions, are the most significant predictors of a person’s engagement level?"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3A61336-574C-4AC5-6FBE-593BCC771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091369"/>
              </p:ext>
            </p:extLst>
          </p:nvPr>
        </p:nvGraphicFramePr>
        <p:xfrm>
          <a:off x="2877572" y="2201455"/>
          <a:ext cx="6592201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549">
                  <a:extLst>
                    <a:ext uri="{9D8B030D-6E8A-4147-A177-3AD203B41FA5}">
                      <a16:colId xmlns:a16="http://schemas.microsoft.com/office/drawing/2014/main" val="1161722230"/>
                    </a:ext>
                  </a:extLst>
                </a:gridCol>
                <a:gridCol w="1672140">
                  <a:extLst>
                    <a:ext uri="{9D8B030D-6E8A-4147-A177-3AD203B41FA5}">
                      <a16:colId xmlns:a16="http://schemas.microsoft.com/office/drawing/2014/main" val="753555889"/>
                    </a:ext>
                  </a:extLst>
                </a:gridCol>
                <a:gridCol w="2822512">
                  <a:extLst>
                    <a:ext uri="{9D8B030D-6E8A-4147-A177-3AD203B41FA5}">
                      <a16:colId xmlns:a16="http://schemas.microsoft.com/office/drawing/2014/main" val="3696185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31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Heart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Significant Negative Relationship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34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Skin Conductance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&lt;2e-16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Significant Negative Relationship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654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Ambient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Not a significant predictor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934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Lighting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Not a significant predictor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62383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F44FD0-679C-3F3D-BC1B-A7C96BEBB24D}"/>
              </a:ext>
            </a:extLst>
          </p:cNvPr>
          <p:cNvSpPr txBox="1"/>
          <p:nvPr/>
        </p:nvSpPr>
        <p:spPr>
          <a:xfrm>
            <a:off x="1755734" y="5538003"/>
            <a:ext cx="8835875" cy="923330"/>
          </a:xfrm>
          <a:custGeom>
            <a:avLst/>
            <a:gdLst>
              <a:gd name="connsiteX0" fmla="*/ 0 w 8835875"/>
              <a:gd name="connsiteY0" fmla="*/ 0 h 923330"/>
              <a:gd name="connsiteX1" fmla="*/ 8835875 w 8835875"/>
              <a:gd name="connsiteY1" fmla="*/ 0 h 923330"/>
              <a:gd name="connsiteX2" fmla="*/ 8835875 w 8835875"/>
              <a:gd name="connsiteY2" fmla="*/ 923330 h 923330"/>
              <a:gd name="connsiteX3" fmla="*/ 0 w 8835875"/>
              <a:gd name="connsiteY3" fmla="*/ 923330 h 923330"/>
              <a:gd name="connsiteX4" fmla="*/ 0 w 8835875"/>
              <a:gd name="connsiteY4" fmla="*/ 0 h 92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35875" h="923330" fill="none" extrusionOk="0">
                <a:moveTo>
                  <a:pt x="0" y="0"/>
                </a:moveTo>
                <a:cubicBezTo>
                  <a:pt x="2474289" y="-157733"/>
                  <a:pt x="5079863" y="-166345"/>
                  <a:pt x="8835875" y="0"/>
                </a:cubicBezTo>
                <a:cubicBezTo>
                  <a:pt x="8808221" y="405052"/>
                  <a:pt x="8885113" y="643934"/>
                  <a:pt x="8835875" y="923330"/>
                </a:cubicBezTo>
                <a:cubicBezTo>
                  <a:pt x="7415720" y="958810"/>
                  <a:pt x="1964504" y="1057988"/>
                  <a:pt x="0" y="923330"/>
                </a:cubicBezTo>
                <a:cubicBezTo>
                  <a:pt x="-59664" y="689524"/>
                  <a:pt x="26043" y="305115"/>
                  <a:pt x="0" y="0"/>
                </a:cubicBezTo>
                <a:close/>
              </a:path>
              <a:path w="8835875" h="923330" stroke="0" extrusionOk="0">
                <a:moveTo>
                  <a:pt x="0" y="0"/>
                </a:moveTo>
                <a:cubicBezTo>
                  <a:pt x="3681585" y="-35591"/>
                  <a:pt x="4628822" y="73323"/>
                  <a:pt x="8835875" y="0"/>
                </a:cubicBezTo>
                <a:cubicBezTo>
                  <a:pt x="8802753" y="356116"/>
                  <a:pt x="8850784" y="512212"/>
                  <a:pt x="8835875" y="923330"/>
                </a:cubicBezTo>
                <a:cubicBezTo>
                  <a:pt x="7232766" y="882378"/>
                  <a:pt x="4317238" y="973908"/>
                  <a:pt x="0" y="923330"/>
                </a:cubicBezTo>
                <a:cubicBezTo>
                  <a:pt x="35843" y="772880"/>
                  <a:pt x="-42481" y="293205"/>
                  <a:pt x="0" y="0"/>
                </a:cubicBezTo>
                <a:close/>
              </a:path>
            </a:pathLst>
          </a:custGeom>
          <a:solidFill>
            <a:srgbClr val="F88DC2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63269031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HeartRate</a:t>
            </a:r>
            <a:r>
              <a:rPr lang="en-US" dirty="0"/>
              <a:t> and </a:t>
            </a:r>
            <a:r>
              <a:rPr lang="en-US" dirty="0" err="1"/>
              <a:t>SkinConductance</a:t>
            </a:r>
            <a:r>
              <a:rPr lang="en-US" dirty="0"/>
              <a:t> are significant predictors of Engagement Level, both showing negative relationships.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AmbientNoiseLevel</a:t>
            </a:r>
            <a:r>
              <a:rPr lang="en-US" dirty="0"/>
              <a:t> and </a:t>
            </a:r>
            <a:r>
              <a:rPr lang="en-US" dirty="0" err="1"/>
              <a:t>LightingLevel</a:t>
            </a:r>
            <a:r>
              <a:rPr lang="en-US" dirty="0"/>
              <a:t> are not significant.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088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694C-44BD-FB4F-D282-C6B38421F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79B7A1-F29D-7BC6-5E1A-F36F0EFC5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66928"/>
            <a:ext cx="11119104" cy="640080"/>
          </a:xfrm>
          <a:custGeom>
            <a:avLst/>
            <a:gdLst>
              <a:gd name="connsiteX0" fmla="*/ 0 w 11119104"/>
              <a:gd name="connsiteY0" fmla="*/ 0 h 640080"/>
              <a:gd name="connsiteX1" fmla="*/ 11119104 w 11119104"/>
              <a:gd name="connsiteY1" fmla="*/ 0 h 640080"/>
              <a:gd name="connsiteX2" fmla="*/ 11119104 w 11119104"/>
              <a:gd name="connsiteY2" fmla="*/ 640080 h 640080"/>
              <a:gd name="connsiteX3" fmla="*/ 0 w 11119104"/>
              <a:gd name="connsiteY3" fmla="*/ 640080 h 640080"/>
              <a:gd name="connsiteX4" fmla="*/ 0 w 11119104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19104" h="640080" fill="none" extrusionOk="0">
                <a:moveTo>
                  <a:pt x="0" y="0"/>
                </a:moveTo>
                <a:cubicBezTo>
                  <a:pt x="2621138" y="-20389"/>
                  <a:pt x="6922876" y="-115779"/>
                  <a:pt x="11119104" y="0"/>
                </a:cubicBezTo>
                <a:cubicBezTo>
                  <a:pt x="11077370" y="228457"/>
                  <a:pt x="11127961" y="528887"/>
                  <a:pt x="11119104" y="640080"/>
                </a:cubicBezTo>
                <a:cubicBezTo>
                  <a:pt x="9844477" y="675479"/>
                  <a:pt x="3063481" y="532129"/>
                  <a:pt x="0" y="640080"/>
                </a:cubicBezTo>
                <a:cubicBezTo>
                  <a:pt x="7075" y="327573"/>
                  <a:pt x="30056" y="154027"/>
                  <a:pt x="0" y="0"/>
                </a:cubicBezTo>
                <a:close/>
              </a:path>
              <a:path w="11119104" h="640080" stroke="0" extrusionOk="0">
                <a:moveTo>
                  <a:pt x="0" y="0"/>
                </a:moveTo>
                <a:cubicBezTo>
                  <a:pt x="1156017" y="-99531"/>
                  <a:pt x="7649770" y="163027"/>
                  <a:pt x="11119104" y="0"/>
                </a:cubicBezTo>
                <a:cubicBezTo>
                  <a:pt x="11064896" y="312150"/>
                  <a:pt x="11110724" y="364128"/>
                  <a:pt x="11119104" y="640080"/>
                </a:cubicBezTo>
                <a:cubicBezTo>
                  <a:pt x="9132143" y="493310"/>
                  <a:pt x="2102387" y="674663"/>
                  <a:pt x="0" y="640080"/>
                </a:cubicBezTo>
                <a:cubicBezTo>
                  <a:pt x="57453" y="405933"/>
                  <a:pt x="2824" y="155839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788830181">
                  <ask:type>
                    <ask:lineSketchCurved/>
                  </ask:type>
                </ask:lineSketchStyleProps>
              </a:ext>
            </a:extLst>
          </a:ln>
        </p:spPr>
        <p:txBody>
          <a:bodyPr/>
          <a:lstStyle/>
          <a:p>
            <a:r>
              <a:rPr lang="en-US" dirty="0"/>
              <a:t>Correlation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D95C90-BDB4-7F3E-DB9E-05FC13BB46B1}"/>
              </a:ext>
            </a:extLst>
          </p:cNvPr>
          <p:cNvSpPr txBox="1"/>
          <p:nvPr/>
        </p:nvSpPr>
        <p:spPr>
          <a:xfrm>
            <a:off x="2753032" y="1297610"/>
            <a:ext cx="10510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Assessing the relationship between multiple continuous variables</a:t>
            </a:r>
            <a:r>
              <a:rPr lang="en-IN" dirty="0"/>
              <a:t>.</a:t>
            </a:r>
            <a:r>
              <a:rPr lang="en-US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B729D5-11F0-88FA-D15D-A27A383C1B88}"/>
              </a:ext>
            </a:extLst>
          </p:cNvPr>
          <p:cNvSpPr txBox="1"/>
          <p:nvPr/>
        </p:nvSpPr>
        <p:spPr>
          <a:xfrm>
            <a:off x="1968696" y="5779882"/>
            <a:ext cx="8224128" cy="646331"/>
          </a:xfrm>
          <a:custGeom>
            <a:avLst/>
            <a:gdLst>
              <a:gd name="connsiteX0" fmla="*/ 0 w 8224128"/>
              <a:gd name="connsiteY0" fmla="*/ 0 h 646331"/>
              <a:gd name="connsiteX1" fmla="*/ 8224128 w 8224128"/>
              <a:gd name="connsiteY1" fmla="*/ 0 h 646331"/>
              <a:gd name="connsiteX2" fmla="*/ 8224128 w 8224128"/>
              <a:gd name="connsiteY2" fmla="*/ 646331 h 646331"/>
              <a:gd name="connsiteX3" fmla="*/ 0 w 8224128"/>
              <a:gd name="connsiteY3" fmla="*/ 646331 h 646331"/>
              <a:gd name="connsiteX4" fmla="*/ 0 w 8224128"/>
              <a:gd name="connsiteY4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24128" h="646331" fill="none" extrusionOk="0">
                <a:moveTo>
                  <a:pt x="0" y="0"/>
                </a:moveTo>
                <a:cubicBezTo>
                  <a:pt x="1212011" y="-109503"/>
                  <a:pt x="7033889" y="147484"/>
                  <a:pt x="8224128" y="0"/>
                </a:cubicBezTo>
                <a:cubicBezTo>
                  <a:pt x="8254390" y="271185"/>
                  <a:pt x="8176085" y="573885"/>
                  <a:pt x="8224128" y="646331"/>
                </a:cubicBezTo>
                <a:cubicBezTo>
                  <a:pt x="6496744" y="774787"/>
                  <a:pt x="1855473" y="497301"/>
                  <a:pt x="0" y="646331"/>
                </a:cubicBezTo>
                <a:cubicBezTo>
                  <a:pt x="-32248" y="417815"/>
                  <a:pt x="-32315" y="110108"/>
                  <a:pt x="0" y="0"/>
                </a:cubicBezTo>
                <a:close/>
              </a:path>
              <a:path w="8224128" h="646331" stroke="0" extrusionOk="0">
                <a:moveTo>
                  <a:pt x="0" y="0"/>
                </a:moveTo>
                <a:cubicBezTo>
                  <a:pt x="1547393" y="-108696"/>
                  <a:pt x="7061058" y="80244"/>
                  <a:pt x="8224128" y="0"/>
                </a:cubicBezTo>
                <a:cubicBezTo>
                  <a:pt x="8175290" y="79265"/>
                  <a:pt x="8262331" y="425719"/>
                  <a:pt x="8224128" y="646331"/>
                </a:cubicBezTo>
                <a:cubicBezTo>
                  <a:pt x="5717279" y="483860"/>
                  <a:pt x="1665370" y="796637"/>
                  <a:pt x="0" y="646331"/>
                </a:cubicBezTo>
                <a:cubicBezTo>
                  <a:pt x="-29915" y="518803"/>
                  <a:pt x="57879" y="73815"/>
                  <a:pt x="0" y="0"/>
                </a:cubicBezTo>
                <a:close/>
              </a:path>
            </a:pathLst>
          </a:custGeom>
          <a:solidFill>
            <a:srgbClr val="FFE4E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053747334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Weak correlation between Engagement Level and other variables.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negative correlation between </a:t>
            </a:r>
            <a:r>
              <a:rPr lang="en-US" dirty="0" err="1"/>
              <a:t>HeartRate</a:t>
            </a:r>
            <a:r>
              <a:rPr lang="en-US" dirty="0"/>
              <a:t> and </a:t>
            </a:r>
            <a:r>
              <a:rPr lang="en-US" dirty="0" err="1"/>
              <a:t>SkinConductance</a:t>
            </a:r>
            <a:r>
              <a:rPr lang="en-US" dirty="0"/>
              <a:t> (-0.81).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6A97FF-B48C-7237-A7BB-88181E804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610071"/>
              </p:ext>
            </p:extLst>
          </p:nvPr>
        </p:nvGraphicFramePr>
        <p:xfrm>
          <a:off x="265471" y="2754163"/>
          <a:ext cx="7026785" cy="18017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9457">
                  <a:extLst>
                    <a:ext uri="{9D8B030D-6E8A-4147-A177-3AD203B41FA5}">
                      <a16:colId xmlns:a16="http://schemas.microsoft.com/office/drawing/2014/main" val="3827346339"/>
                    </a:ext>
                  </a:extLst>
                </a:gridCol>
                <a:gridCol w="1546865">
                  <a:extLst>
                    <a:ext uri="{9D8B030D-6E8A-4147-A177-3AD203B41FA5}">
                      <a16:colId xmlns:a16="http://schemas.microsoft.com/office/drawing/2014/main" val="2400208628"/>
                    </a:ext>
                  </a:extLst>
                </a:gridCol>
                <a:gridCol w="1166799">
                  <a:extLst>
                    <a:ext uri="{9D8B030D-6E8A-4147-A177-3AD203B41FA5}">
                      <a16:colId xmlns:a16="http://schemas.microsoft.com/office/drawing/2014/main" val="2684854793"/>
                    </a:ext>
                  </a:extLst>
                </a:gridCol>
                <a:gridCol w="1517408">
                  <a:extLst>
                    <a:ext uri="{9D8B030D-6E8A-4147-A177-3AD203B41FA5}">
                      <a16:colId xmlns:a16="http://schemas.microsoft.com/office/drawing/2014/main" val="4037395740"/>
                    </a:ext>
                  </a:extLst>
                </a:gridCol>
                <a:gridCol w="1196256">
                  <a:extLst>
                    <a:ext uri="{9D8B030D-6E8A-4147-A177-3AD203B41FA5}">
                      <a16:colId xmlns:a16="http://schemas.microsoft.com/office/drawing/2014/main" val="2022966033"/>
                    </a:ext>
                  </a:extLst>
                </a:gridCol>
              </a:tblGrid>
              <a:tr h="49161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 dirty="0">
                          <a:effectLst/>
                        </a:rPr>
                        <a:t>Variable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 dirty="0">
                          <a:effectLst/>
                        </a:rPr>
                        <a:t>Engagement Level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 dirty="0" err="1">
                          <a:effectLst/>
                        </a:rPr>
                        <a:t>HeartRate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 dirty="0" err="1">
                          <a:effectLst/>
                        </a:rPr>
                        <a:t>SkinConductance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 dirty="0" err="1">
                          <a:effectLst/>
                        </a:rPr>
                        <a:t>LightingLevel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8353017"/>
                  </a:ext>
                </a:extLst>
              </a:tr>
              <a:tr h="2559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b="0" kern="100">
                          <a:effectLst/>
                        </a:rPr>
                        <a:t>Engagement Level</a:t>
                      </a:r>
                      <a:endParaRPr lang="en-IN" sz="1100" b="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1.00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0.04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-0.23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0.00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0633661"/>
                  </a:ext>
                </a:extLst>
              </a:tr>
              <a:tr h="3255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b="0" kern="100" dirty="0" err="1">
                          <a:effectLst/>
                        </a:rPr>
                        <a:t>HeartRate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0.04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1.00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kern="100" dirty="0">
                          <a:effectLst/>
                          <a:highlight>
                            <a:srgbClr val="00FF00"/>
                          </a:highlight>
                        </a:rPr>
                        <a:t>-0.81</a:t>
                      </a:r>
                      <a:endParaRPr lang="en-IN" sz="1100" b="1" kern="1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0.05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061017"/>
                  </a:ext>
                </a:extLst>
              </a:tr>
              <a:tr h="3534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b="0" kern="100">
                          <a:effectLst/>
                        </a:rPr>
                        <a:t>SkinConductance</a:t>
                      </a:r>
                      <a:endParaRPr lang="en-IN" sz="1100" b="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-0.23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-0.81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1.00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-0.01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1045899"/>
                  </a:ext>
                </a:extLst>
              </a:tr>
              <a:tr h="37524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b="0" kern="100" dirty="0" err="1">
                          <a:effectLst/>
                        </a:rPr>
                        <a:t>LightingLevel</a:t>
                      </a:r>
                      <a:endParaRPr lang="en-IN" sz="11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0.00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0.05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>
                          <a:effectLst/>
                        </a:rPr>
                        <a:t>-0.01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effectLst/>
                        </a:rPr>
                        <a:t>1.00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021327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62BF6E5-F72F-C020-3C19-5CAA9645A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671" y="2126876"/>
            <a:ext cx="3783186" cy="29703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5414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B122C-CB66-1B60-F61E-4BCA0D3F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6ACB34-B9C2-BEE5-E5B5-267574B1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067" y="465336"/>
            <a:ext cx="11119104" cy="640080"/>
          </a:xfrm>
          <a:custGeom>
            <a:avLst/>
            <a:gdLst>
              <a:gd name="connsiteX0" fmla="*/ 0 w 11119104"/>
              <a:gd name="connsiteY0" fmla="*/ 0 h 640080"/>
              <a:gd name="connsiteX1" fmla="*/ 11119104 w 11119104"/>
              <a:gd name="connsiteY1" fmla="*/ 0 h 640080"/>
              <a:gd name="connsiteX2" fmla="*/ 11119104 w 11119104"/>
              <a:gd name="connsiteY2" fmla="*/ 640080 h 640080"/>
              <a:gd name="connsiteX3" fmla="*/ 0 w 11119104"/>
              <a:gd name="connsiteY3" fmla="*/ 640080 h 640080"/>
              <a:gd name="connsiteX4" fmla="*/ 0 w 11119104"/>
              <a:gd name="connsiteY4" fmla="*/ 0 h 64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19104" h="640080" fill="none" extrusionOk="0">
                <a:moveTo>
                  <a:pt x="0" y="0"/>
                </a:moveTo>
                <a:cubicBezTo>
                  <a:pt x="3589230" y="-32307"/>
                  <a:pt x="6217819" y="108358"/>
                  <a:pt x="11119104" y="0"/>
                </a:cubicBezTo>
                <a:cubicBezTo>
                  <a:pt x="11146474" y="262011"/>
                  <a:pt x="11146719" y="416804"/>
                  <a:pt x="11119104" y="640080"/>
                </a:cubicBezTo>
                <a:cubicBezTo>
                  <a:pt x="8107365" y="667815"/>
                  <a:pt x="1762467" y="547416"/>
                  <a:pt x="0" y="640080"/>
                </a:cubicBezTo>
                <a:cubicBezTo>
                  <a:pt x="-47942" y="490359"/>
                  <a:pt x="-15857" y="221385"/>
                  <a:pt x="0" y="0"/>
                </a:cubicBezTo>
                <a:close/>
              </a:path>
              <a:path w="11119104" h="640080" stroke="0" extrusionOk="0">
                <a:moveTo>
                  <a:pt x="0" y="0"/>
                </a:moveTo>
                <a:cubicBezTo>
                  <a:pt x="2198699" y="116343"/>
                  <a:pt x="8944692" y="100038"/>
                  <a:pt x="11119104" y="0"/>
                </a:cubicBezTo>
                <a:cubicBezTo>
                  <a:pt x="11081056" y="291271"/>
                  <a:pt x="11127458" y="336781"/>
                  <a:pt x="11119104" y="640080"/>
                </a:cubicBezTo>
                <a:cubicBezTo>
                  <a:pt x="7984759" y="532846"/>
                  <a:pt x="4719379" y="748318"/>
                  <a:pt x="0" y="640080"/>
                </a:cubicBezTo>
                <a:cubicBezTo>
                  <a:pt x="-49822" y="348669"/>
                  <a:pt x="-53709" y="226390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754493879">
                  <ask:type>
                    <ask:lineSketchCurved/>
                  </ask:type>
                </ask:lineSketchStyleProps>
              </a:ext>
            </a:extLst>
          </a:ln>
        </p:spPr>
        <p:txBody>
          <a:bodyPr/>
          <a:lstStyle/>
          <a:p>
            <a:r>
              <a:rPr lang="en-US" dirty="0"/>
              <a:t>Correlation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5667C-7FC1-A1AC-8C93-63E1FD6F5FDC}"/>
              </a:ext>
            </a:extLst>
          </p:cNvPr>
          <p:cNvSpPr txBox="1"/>
          <p:nvPr/>
        </p:nvSpPr>
        <p:spPr>
          <a:xfrm>
            <a:off x="2595715" y="1105416"/>
            <a:ext cx="10510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check whether these are </a:t>
            </a:r>
            <a:r>
              <a:rPr lang="en-IN" dirty="0"/>
              <a:t>significant predictors of </a:t>
            </a:r>
            <a:r>
              <a:rPr lang="en-IN" dirty="0" err="1"/>
              <a:t>EngagementLevel</a:t>
            </a:r>
            <a:r>
              <a:rPr lang="en-IN" dirty="0"/>
              <a:t>.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5CA70-0371-7B2A-8212-576DBFA1439A}"/>
              </a:ext>
            </a:extLst>
          </p:cNvPr>
          <p:cNvSpPr txBox="1"/>
          <p:nvPr/>
        </p:nvSpPr>
        <p:spPr>
          <a:xfrm>
            <a:off x="1618912" y="5429105"/>
            <a:ext cx="8772648" cy="1200329"/>
          </a:xfrm>
          <a:custGeom>
            <a:avLst/>
            <a:gdLst>
              <a:gd name="connsiteX0" fmla="*/ 0 w 8772648"/>
              <a:gd name="connsiteY0" fmla="*/ 0 h 1200329"/>
              <a:gd name="connsiteX1" fmla="*/ 8772648 w 8772648"/>
              <a:gd name="connsiteY1" fmla="*/ 0 h 1200329"/>
              <a:gd name="connsiteX2" fmla="*/ 8772648 w 8772648"/>
              <a:gd name="connsiteY2" fmla="*/ 1200329 h 1200329"/>
              <a:gd name="connsiteX3" fmla="*/ 0 w 8772648"/>
              <a:gd name="connsiteY3" fmla="*/ 1200329 h 1200329"/>
              <a:gd name="connsiteX4" fmla="*/ 0 w 8772648"/>
              <a:gd name="connsiteY4" fmla="*/ 0 h 120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72648" h="1200329" fill="none" extrusionOk="0">
                <a:moveTo>
                  <a:pt x="0" y="0"/>
                </a:moveTo>
                <a:cubicBezTo>
                  <a:pt x="1362417" y="126994"/>
                  <a:pt x="5104075" y="137665"/>
                  <a:pt x="8772648" y="0"/>
                </a:cubicBezTo>
                <a:cubicBezTo>
                  <a:pt x="8788937" y="336611"/>
                  <a:pt x="8739363" y="972127"/>
                  <a:pt x="8772648" y="1200329"/>
                </a:cubicBezTo>
                <a:cubicBezTo>
                  <a:pt x="5240169" y="1059486"/>
                  <a:pt x="4318171" y="1247264"/>
                  <a:pt x="0" y="1200329"/>
                </a:cubicBezTo>
                <a:cubicBezTo>
                  <a:pt x="-31193" y="732563"/>
                  <a:pt x="96749" y="366530"/>
                  <a:pt x="0" y="0"/>
                </a:cubicBezTo>
                <a:close/>
              </a:path>
              <a:path w="8772648" h="1200329" stroke="0" extrusionOk="0">
                <a:moveTo>
                  <a:pt x="0" y="0"/>
                </a:moveTo>
                <a:cubicBezTo>
                  <a:pt x="2128408" y="30562"/>
                  <a:pt x="5624220" y="105413"/>
                  <a:pt x="8772648" y="0"/>
                </a:cubicBezTo>
                <a:cubicBezTo>
                  <a:pt x="8743758" y="497818"/>
                  <a:pt x="8675632" y="1020907"/>
                  <a:pt x="8772648" y="1200329"/>
                </a:cubicBezTo>
                <a:cubicBezTo>
                  <a:pt x="6066275" y="1196785"/>
                  <a:pt x="3657789" y="1292855"/>
                  <a:pt x="0" y="1200329"/>
                </a:cubicBezTo>
                <a:cubicBezTo>
                  <a:pt x="-87512" y="988846"/>
                  <a:pt x="-101040" y="318505"/>
                  <a:pt x="0" y="0"/>
                </a:cubicBezTo>
                <a:close/>
              </a:path>
            </a:pathLst>
          </a:custGeom>
          <a:solidFill>
            <a:srgbClr val="FFE4E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128230038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Heart Rate vs. Engagement Level: Shows a slight positive relationship, but the spread of data indicates a weak correlation.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Lighting Level vs. Engagement Level: The regression line shows minimal influence of lighting on engagement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D2FBAD-A3E5-B61F-4C66-0B165DF69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849" y="1689329"/>
            <a:ext cx="8160774" cy="35251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2287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9000">
              <a:srgbClr val="FCFFFE"/>
            </a:gs>
            <a:gs pos="66020">
              <a:srgbClr val="F3FFFF"/>
            </a:gs>
            <a:gs pos="37992">
              <a:srgbClr val="FFFFFF"/>
            </a:gs>
            <a:gs pos="8000">
              <a:srgbClr val="EAFCFD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14CCEE-3485-2159-D337-16E15FAF3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81" y="1490677"/>
            <a:ext cx="2906458" cy="555372"/>
          </a:xfrm>
          <a:solidFill>
            <a:srgbClr val="92D050"/>
          </a:solidFill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3811234802">
                  <a:custGeom>
                    <a:avLst/>
                    <a:gdLst>
                      <a:gd name="connsiteX0" fmla="*/ 0 w 2906458"/>
                      <a:gd name="connsiteY0" fmla="*/ 0 h 378127"/>
                      <a:gd name="connsiteX1" fmla="*/ 2906458 w 2906458"/>
                      <a:gd name="connsiteY1" fmla="*/ 0 h 378127"/>
                      <a:gd name="connsiteX2" fmla="*/ 2906458 w 2906458"/>
                      <a:gd name="connsiteY2" fmla="*/ 378127 h 378127"/>
                      <a:gd name="connsiteX3" fmla="*/ 0 w 2906458"/>
                      <a:gd name="connsiteY3" fmla="*/ 378127 h 378127"/>
                      <a:gd name="connsiteX4" fmla="*/ 0 w 2906458"/>
                      <a:gd name="connsiteY4" fmla="*/ 0 h 378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906458" h="378127" fill="none" extrusionOk="0">
                        <a:moveTo>
                          <a:pt x="0" y="0"/>
                        </a:moveTo>
                        <a:cubicBezTo>
                          <a:pt x="953205" y="-56071"/>
                          <a:pt x="1723949" y="46537"/>
                          <a:pt x="2906458" y="0"/>
                        </a:cubicBezTo>
                        <a:cubicBezTo>
                          <a:pt x="2887750" y="103530"/>
                          <a:pt x="2924070" y="211066"/>
                          <a:pt x="2906458" y="378127"/>
                        </a:cubicBezTo>
                        <a:cubicBezTo>
                          <a:pt x="1603649" y="252112"/>
                          <a:pt x="836596" y="381034"/>
                          <a:pt x="0" y="378127"/>
                        </a:cubicBezTo>
                        <a:cubicBezTo>
                          <a:pt x="-7951" y="189155"/>
                          <a:pt x="27273" y="59518"/>
                          <a:pt x="0" y="0"/>
                        </a:cubicBezTo>
                        <a:close/>
                      </a:path>
                      <a:path w="2906458" h="378127" stroke="0" extrusionOk="0">
                        <a:moveTo>
                          <a:pt x="0" y="0"/>
                        </a:moveTo>
                        <a:cubicBezTo>
                          <a:pt x="641230" y="10470"/>
                          <a:pt x="2079084" y="9450"/>
                          <a:pt x="2906458" y="0"/>
                        </a:cubicBezTo>
                        <a:cubicBezTo>
                          <a:pt x="2902086" y="183049"/>
                          <a:pt x="2897844" y="246663"/>
                          <a:pt x="2906458" y="378127"/>
                        </a:cubicBezTo>
                        <a:cubicBezTo>
                          <a:pt x="2422532" y="466291"/>
                          <a:pt x="805363" y="443964"/>
                          <a:pt x="0" y="378127"/>
                        </a:cubicBezTo>
                        <a:cubicBezTo>
                          <a:pt x="1222" y="313582"/>
                          <a:pt x="-5718" y="73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Skin Conductance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9" name="Picture Placeholder 10" descr="Cartoon Character">
            <a:extLst>
              <a:ext uri="{FF2B5EF4-FFF2-40B4-BE49-F238E27FC236}">
                <a16:creationId xmlns:a16="http://schemas.microsoft.com/office/drawing/2014/main" id="{F7B1B1A3-CBD4-86CB-273F-CF4C777C73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3" b="293"/>
          <a:stretch/>
        </p:blipFill>
        <p:spPr>
          <a:xfrm flipV="1">
            <a:off x="3828047" y="2375"/>
            <a:ext cx="3468160" cy="1717731"/>
          </a:xfrm>
          <a:noFill/>
          <a:effectLst>
            <a:outerShdw blurRad="66753" dist="39609" dir="12780000" sx="101109" sy="101109" algn="t" rotWithShape="0">
              <a:prstClr val="black">
                <a:alpha val="17409"/>
              </a:prstClr>
            </a:outerShdw>
          </a:effectLst>
        </p:spPr>
      </p:pic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5BA00F71-56F9-BF1B-40D8-F8B14254541B}"/>
              </a:ext>
            </a:extLst>
          </p:cNvPr>
          <p:cNvSpPr txBox="1">
            <a:spLocks/>
          </p:cNvSpPr>
          <p:nvPr/>
        </p:nvSpPr>
        <p:spPr>
          <a:xfrm>
            <a:off x="9478896" y="6470512"/>
            <a:ext cx="2494813" cy="2525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94A09A9-5501-47C1-A89A-A340965A2BE2}" type="slidenum">
              <a:rPr lang="en-US" sz="1200" smtClean="0">
                <a:solidFill>
                  <a:schemeClr val="bg2">
                    <a:lumMod val="50000"/>
                  </a:schemeClr>
                </a:solidFill>
                <a:cs typeface="Segoe UI" panose="020B0502040204020203" pitchFamily="34" charset="0"/>
              </a:rPr>
              <a:pPr algn="r"/>
              <a:t>12</a:t>
            </a:fld>
            <a:endParaRPr lang="en-US" sz="1200" dirty="0">
              <a:solidFill>
                <a:schemeClr val="bg2">
                  <a:lumMod val="50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C5F90AB-BC30-F653-17DB-E28AAA044C23}"/>
              </a:ext>
            </a:extLst>
          </p:cNvPr>
          <p:cNvSpPr txBox="1">
            <a:spLocks/>
          </p:cNvSpPr>
          <p:nvPr/>
        </p:nvSpPr>
        <p:spPr>
          <a:xfrm>
            <a:off x="7057984" y="1441849"/>
            <a:ext cx="4116116" cy="695803"/>
          </a:xfrm>
          <a:prstGeom prst="rect">
            <a:avLst/>
          </a:prstGeom>
          <a:solidFill>
            <a:srgbClr val="92D050"/>
          </a:solidFill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0244469">
                  <a:custGeom>
                    <a:avLst/>
                    <a:gdLst>
                      <a:gd name="connsiteX0" fmla="*/ 0 w 4116116"/>
                      <a:gd name="connsiteY0" fmla="*/ 0 h 473740"/>
                      <a:gd name="connsiteX1" fmla="*/ 4116116 w 4116116"/>
                      <a:gd name="connsiteY1" fmla="*/ 0 h 473740"/>
                      <a:gd name="connsiteX2" fmla="*/ 4116116 w 4116116"/>
                      <a:gd name="connsiteY2" fmla="*/ 473740 h 473740"/>
                      <a:gd name="connsiteX3" fmla="*/ 0 w 4116116"/>
                      <a:gd name="connsiteY3" fmla="*/ 473740 h 473740"/>
                      <a:gd name="connsiteX4" fmla="*/ 0 w 4116116"/>
                      <a:gd name="connsiteY4" fmla="*/ 0 h 473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116116" h="473740" fill="none" extrusionOk="0">
                        <a:moveTo>
                          <a:pt x="0" y="0"/>
                        </a:moveTo>
                        <a:cubicBezTo>
                          <a:pt x="1662534" y="-73859"/>
                          <a:pt x="3497549" y="-47326"/>
                          <a:pt x="4116116" y="0"/>
                        </a:cubicBezTo>
                        <a:cubicBezTo>
                          <a:pt x="4096982" y="49349"/>
                          <a:pt x="4140825" y="337850"/>
                          <a:pt x="4116116" y="473740"/>
                        </a:cubicBezTo>
                        <a:cubicBezTo>
                          <a:pt x="3522164" y="489477"/>
                          <a:pt x="1054943" y="364055"/>
                          <a:pt x="0" y="473740"/>
                        </a:cubicBezTo>
                        <a:cubicBezTo>
                          <a:pt x="41450" y="276735"/>
                          <a:pt x="-2833" y="208857"/>
                          <a:pt x="0" y="0"/>
                        </a:cubicBezTo>
                        <a:close/>
                      </a:path>
                      <a:path w="4116116" h="473740" stroke="0" extrusionOk="0">
                        <a:moveTo>
                          <a:pt x="0" y="0"/>
                        </a:moveTo>
                        <a:cubicBezTo>
                          <a:pt x="1953273" y="-42683"/>
                          <a:pt x="2822106" y="102983"/>
                          <a:pt x="4116116" y="0"/>
                        </a:cubicBezTo>
                        <a:cubicBezTo>
                          <a:pt x="4082393" y="182113"/>
                          <a:pt x="4145657" y="400956"/>
                          <a:pt x="4116116" y="473740"/>
                        </a:cubicBezTo>
                        <a:cubicBezTo>
                          <a:pt x="2898271" y="534362"/>
                          <a:pt x="1777860" y="558261"/>
                          <a:pt x="0" y="473740"/>
                        </a:cubicBezTo>
                        <a:cubicBezTo>
                          <a:pt x="3005" y="318489"/>
                          <a:pt x="-7838" y="9081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Most significant Predictor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E0476468-1A84-B123-1177-D4FF6CCCCDFD}"/>
              </a:ext>
            </a:extLst>
          </p:cNvPr>
          <p:cNvSpPr txBox="1">
            <a:spLocks/>
          </p:cNvSpPr>
          <p:nvPr/>
        </p:nvSpPr>
        <p:spPr>
          <a:xfrm>
            <a:off x="7057984" y="2492685"/>
            <a:ext cx="4467258" cy="69580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4099326212">
                  <a:custGeom>
                    <a:avLst/>
                    <a:gdLst>
                      <a:gd name="connsiteX0" fmla="*/ 0 w 4467258"/>
                      <a:gd name="connsiteY0" fmla="*/ 0 h 473740"/>
                      <a:gd name="connsiteX1" fmla="*/ 4467258 w 4467258"/>
                      <a:gd name="connsiteY1" fmla="*/ 0 h 473740"/>
                      <a:gd name="connsiteX2" fmla="*/ 4467258 w 4467258"/>
                      <a:gd name="connsiteY2" fmla="*/ 473740 h 473740"/>
                      <a:gd name="connsiteX3" fmla="*/ 0 w 4467258"/>
                      <a:gd name="connsiteY3" fmla="*/ 473740 h 473740"/>
                      <a:gd name="connsiteX4" fmla="*/ 0 w 4467258"/>
                      <a:gd name="connsiteY4" fmla="*/ 0 h 473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467258" h="473740" fill="none" extrusionOk="0">
                        <a:moveTo>
                          <a:pt x="0" y="0"/>
                        </a:moveTo>
                        <a:cubicBezTo>
                          <a:pt x="2188106" y="-159839"/>
                          <a:pt x="3692694" y="135185"/>
                          <a:pt x="4467258" y="0"/>
                        </a:cubicBezTo>
                        <a:cubicBezTo>
                          <a:pt x="4491623" y="84686"/>
                          <a:pt x="4483538" y="244716"/>
                          <a:pt x="4467258" y="473740"/>
                        </a:cubicBezTo>
                        <a:cubicBezTo>
                          <a:pt x="2410348" y="535906"/>
                          <a:pt x="2147805" y="456718"/>
                          <a:pt x="0" y="473740"/>
                        </a:cubicBezTo>
                        <a:cubicBezTo>
                          <a:pt x="40535" y="381861"/>
                          <a:pt x="41681" y="210976"/>
                          <a:pt x="0" y="0"/>
                        </a:cubicBezTo>
                        <a:close/>
                      </a:path>
                      <a:path w="4467258" h="473740" stroke="0" extrusionOk="0">
                        <a:moveTo>
                          <a:pt x="0" y="0"/>
                        </a:moveTo>
                        <a:cubicBezTo>
                          <a:pt x="662434" y="-145489"/>
                          <a:pt x="3796337" y="105473"/>
                          <a:pt x="4467258" y="0"/>
                        </a:cubicBezTo>
                        <a:cubicBezTo>
                          <a:pt x="4450092" y="201602"/>
                          <a:pt x="4481402" y="322343"/>
                          <a:pt x="4467258" y="473740"/>
                        </a:cubicBezTo>
                        <a:cubicBezTo>
                          <a:pt x="3581422" y="549499"/>
                          <a:pt x="1723375" y="485512"/>
                          <a:pt x="0" y="473740"/>
                        </a:cubicBezTo>
                        <a:cubicBezTo>
                          <a:pt x="-32195" y="361138"/>
                          <a:pt x="688" y="5886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Significant Predictor in MLR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DC7BD88D-93C0-BD27-9D47-A0F25272B348}"/>
              </a:ext>
            </a:extLst>
          </p:cNvPr>
          <p:cNvSpPr txBox="1">
            <a:spLocks/>
          </p:cNvSpPr>
          <p:nvPr/>
        </p:nvSpPr>
        <p:spPr>
          <a:xfrm>
            <a:off x="7057984" y="3516649"/>
            <a:ext cx="2886550" cy="695803"/>
          </a:xfrm>
          <a:prstGeom prst="rect">
            <a:avLst/>
          </a:prstGeom>
          <a:solidFill>
            <a:srgbClr val="FF7676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754493879">
                  <a:custGeom>
                    <a:avLst/>
                    <a:gdLst>
                      <a:gd name="connsiteX0" fmla="*/ 0 w 2886550"/>
                      <a:gd name="connsiteY0" fmla="*/ 0 h 473740"/>
                      <a:gd name="connsiteX1" fmla="*/ 2886550 w 2886550"/>
                      <a:gd name="connsiteY1" fmla="*/ 0 h 473740"/>
                      <a:gd name="connsiteX2" fmla="*/ 2886550 w 2886550"/>
                      <a:gd name="connsiteY2" fmla="*/ 473740 h 473740"/>
                      <a:gd name="connsiteX3" fmla="*/ 0 w 2886550"/>
                      <a:gd name="connsiteY3" fmla="*/ 473740 h 473740"/>
                      <a:gd name="connsiteX4" fmla="*/ 0 w 2886550"/>
                      <a:gd name="connsiteY4" fmla="*/ 0 h 473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886550" h="473740" fill="none" extrusionOk="0">
                        <a:moveTo>
                          <a:pt x="0" y="0"/>
                        </a:moveTo>
                        <a:cubicBezTo>
                          <a:pt x="808137" y="-32307"/>
                          <a:pt x="1853024" y="108358"/>
                          <a:pt x="2886550" y="0"/>
                        </a:cubicBezTo>
                        <a:cubicBezTo>
                          <a:pt x="2891004" y="215409"/>
                          <a:pt x="2862849" y="413003"/>
                          <a:pt x="2886550" y="473740"/>
                        </a:cubicBezTo>
                        <a:cubicBezTo>
                          <a:pt x="2100300" y="501475"/>
                          <a:pt x="465812" y="381076"/>
                          <a:pt x="0" y="473740"/>
                        </a:cubicBezTo>
                        <a:cubicBezTo>
                          <a:pt x="-38695" y="236961"/>
                          <a:pt x="14774" y="154702"/>
                          <a:pt x="0" y="0"/>
                        </a:cubicBezTo>
                        <a:close/>
                      </a:path>
                      <a:path w="2886550" h="473740" stroke="0" extrusionOk="0">
                        <a:moveTo>
                          <a:pt x="0" y="0"/>
                        </a:moveTo>
                        <a:cubicBezTo>
                          <a:pt x="1374538" y="116343"/>
                          <a:pt x="2311018" y="100038"/>
                          <a:pt x="2886550" y="0"/>
                        </a:cubicBezTo>
                        <a:cubicBezTo>
                          <a:pt x="2880605" y="69833"/>
                          <a:pt x="2914461" y="355646"/>
                          <a:pt x="2886550" y="473740"/>
                        </a:cubicBezTo>
                        <a:cubicBezTo>
                          <a:pt x="1539797" y="366506"/>
                          <a:pt x="1157800" y="581978"/>
                          <a:pt x="0" y="473740"/>
                        </a:cubicBezTo>
                        <a:cubicBezTo>
                          <a:pt x="36209" y="375541"/>
                          <a:pt x="-12368" y="9328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Negligible impact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AAE40201-59E6-DA98-1230-538E023DA26F}"/>
              </a:ext>
            </a:extLst>
          </p:cNvPr>
          <p:cNvSpPr txBox="1">
            <a:spLocks/>
          </p:cNvSpPr>
          <p:nvPr/>
        </p:nvSpPr>
        <p:spPr>
          <a:xfrm>
            <a:off x="7057984" y="4521236"/>
            <a:ext cx="3668319" cy="6958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4063040674">
                  <a:custGeom>
                    <a:avLst/>
                    <a:gdLst>
                      <a:gd name="connsiteX0" fmla="*/ 0 w 3668319"/>
                      <a:gd name="connsiteY0" fmla="*/ 0 h 473740"/>
                      <a:gd name="connsiteX1" fmla="*/ 3668319 w 3668319"/>
                      <a:gd name="connsiteY1" fmla="*/ 0 h 473740"/>
                      <a:gd name="connsiteX2" fmla="*/ 3668319 w 3668319"/>
                      <a:gd name="connsiteY2" fmla="*/ 473740 h 473740"/>
                      <a:gd name="connsiteX3" fmla="*/ 0 w 3668319"/>
                      <a:gd name="connsiteY3" fmla="*/ 473740 h 473740"/>
                      <a:gd name="connsiteX4" fmla="*/ 0 w 3668319"/>
                      <a:gd name="connsiteY4" fmla="*/ 0 h 473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68319" h="473740" fill="none" extrusionOk="0">
                        <a:moveTo>
                          <a:pt x="0" y="0"/>
                        </a:moveTo>
                        <a:cubicBezTo>
                          <a:pt x="738006" y="-56782"/>
                          <a:pt x="1906022" y="-72989"/>
                          <a:pt x="3668319" y="0"/>
                        </a:cubicBezTo>
                        <a:cubicBezTo>
                          <a:pt x="3671662" y="104189"/>
                          <a:pt x="3708309" y="346021"/>
                          <a:pt x="3668319" y="473740"/>
                        </a:cubicBezTo>
                        <a:cubicBezTo>
                          <a:pt x="2111693" y="619391"/>
                          <a:pt x="748596" y="457485"/>
                          <a:pt x="0" y="473740"/>
                        </a:cubicBezTo>
                        <a:cubicBezTo>
                          <a:pt x="38358" y="380159"/>
                          <a:pt x="11961" y="136613"/>
                          <a:pt x="0" y="0"/>
                        </a:cubicBezTo>
                        <a:close/>
                      </a:path>
                      <a:path w="3668319" h="473740" stroke="0" extrusionOk="0">
                        <a:moveTo>
                          <a:pt x="0" y="0"/>
                        </a:moveTo>
                        <a:cubicBezTo>
                          <a:pt x="1414293" y="-100955"/>
                          <a:pt x="1964605" y="142850"/>
                          <a:pt x="3668319" y="0"/>
                        </a:cubicBezTo>
                        <a:cubicBezTo>
                          <a:pt x="3661732" y="79494"/>
                          <a:pt x="3631800" y="377681"/>
                          <a:pt x="3668319" y="473740"/>
                        </a:cubicBezTo>
                        <a:cubicBezTo>
                          <a:pt x="2794991" y="357534"/>
                          <a:pt x="1450450" y="612857"/>
                          <a:pt x="0" y="473740"/>
                        </a:cubicBezTo>
                        <a:cubicBezTo>
                          <a:pt x="26601" y="324781"/>
                          <a:pt x="37401" y="16541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Significantly influences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E272713C-C92C-432D-6B67-755EBFB1D3C5}"/>
              </a:ext>
            </a:extLst>
          </p:cNvPr>
          <p:cNvSpPr txBox="1">
            <a:spLocks/>
          </p:cNvSpPr>
          <p:nvPr/>
        </p:nvSpPr>
        <p:spPr>
          <a:xfrm>
            <a:off x="7130682" y="5622148"/>
            <a:ext cx="4467259" cy="69580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2597418891">
                  <a:custGeom>
                    <a:avLst/>
                    <a:gdLst>
                      <a:gd name="connsiteX0" fmla="*/ 0 w 4878125"/>
                      <a:gd name="connsiteY0" fmla="*/ 0 h 473740"/>
                      <a:gd name="connsiteX1" fmla="*/ 4878125 w 4878125"/>
                      <a:gd name="connsiteY1" fmla="*/ 0 h 473740"/>
                      <a:gd name="connsiteX2" fmla="*/ 4878125 w 4878125"/>
                      <a:gd name="connsiteY2" fmla="*/ 473740 h 473740"/>
                      <a:gd name="connsiteX3" fmla="*/ 0 w 4878125"/>
                      <a:gd name="connsiteY3" fmla="*/ 473740 h 473740"/>
                      <a:gd name="connsiteX4" fmla="*/ 0 w 4878125"/>
                      <a:gd name="connsiteY4" fmla="*/ 0 h 473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878125" h="473740" fill="none" extrusionOk="0">
                        <a:moveTo>
                          <a:pt x="0" y="0"/>
                        </a:moveTo>
                        <a:cubicBezTo>
                          <a:pt x="1563107" y="-73909"/>
                          <a:pt x="2985555" y="116158"/>
                          <a:pt x="4878125" y="0"/>
                        </a:cubicBezTo>
                        <a:cubicBezTo>
                          <a:pt x="4877726" y="142704"/>
                          <a:pt x="4845837" y="296608"/>
                          <a:pt x="4878125" y="473740"/>
                        </a:cubicBezTo>
                        <a:cubicBezTo>
                          <a:pt x="3860063" y="480257"/>
                          <a:pt x="2382964" y="407987"/>
                          <a:pt x="0" y="473740"/>
                        </a:cubicBezTo>
                        <a:cubicBezTo>
                          <a:pt x="37829" y="409405"/>
                          <a:pt x="6489" y="126456"/>
                          <a:pt x="0" y="0"/>
                        </a:cubicBezTo>
                        <a:close/>
                      </a:path>
                      <a:path w="4878125" h="473740" stroke="0" extrusionOk="0">
                        <a:moveTo>
                          <a:pt x="0" y="0"/>
                        </a:moveTo>
                        <a:cubicBezTo>
                          <a:pt x="1471836" y="-35915"/>
                          <a:pt x="2665196" y="-10674"/>
                          <a:pt x="4878125" y="0"/>
                        </a:cubicBezTo>
                        <a:cubicBezTo>
                          <a:pt x="4856723" y="105573"/>
                          <a:pt x="4886658" y="268057"/>
                          <a:pt x="4878125" y="473740"/>
                        </a:cubicBezTo>
                        <a:cubicBezTo>
                          <a:pt x="3314375" y="484276"/>
                          <a:pt x="1893790" y="469966"/>
                          <a:pt x="0" y="473740"/>
                        </a:cubicBezTo>
                        <a:cubicBezTo>
                          <a:pt x="-26315" y="300575"/>
                          <a:pt x="-8057" y="20248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Does not significantly influence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CF0218C8-A609-8D79-9427-B3BDEEBAF08B}"/>
              </a:ext>
            </a:extLst>
          </p:cNvPr>
          <p:cNvSpPr txBox="1">
            <a:spLocks/>
          </p:cNvSpPr>
          <p:nvPr/>
        </p:nvSpPr>
        <p:spPr>
          <a:xfrm>
            <a:off x="1990008" y="2636580"/>
            <a:ext cx="1962921" cy="4467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2033471560">
                  <a:custGeom>
                    <a:avLst/>
                    <a:gdLst>
                      <a:gd name="connsiteX0" fmla="*/ 0 w 1962921"/>
                      <a:gd name="connsiteY0" fmla="*/ 0 h 304183"/>
                      <a:gd name="connsiteX1" fmla="*/ 1962921 w 1962921"/>
                      <a:gd name="connsiteY1" fmla="*/ 0 h 304183"/>
                      <a:gd name="connsiteX2" fmla="*/ 1962921 w 1962921"/>
                      <a:gd name="connsiteY2" fmla="*/ 304183 h 304183"/>
                      <a:gd name="connsiteX3" fmla="*/ 0 w 1962921"/>
                      <a:gd name="connsiteY3" fmla="*/ 304183 h 304183"/>
                      <a:gd name="connsiteX4" fmla="*/ 0 w 1962921"/>
                      <a:gd name="connsiteY4" fmla="*/ 0 h 3041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962921" h="304183" fill="none" extrusionOk="0">
                        <a:moveTo>
                          <a:pt x="0" y="0"/>
                        </a:moveTo>
                        <a:cubicBezTo>
                          <a:pt x="940735" y="145516"/>
                          <a:pt x="1642553" y="110493"/>
                          <a:pt x="1962921" y="0"/>
                        </a:cubicBezTo>
                        <a:cubicBezTo>
                          <a:pt x="1966407" y="133068"/>
                          <a:pt x="1965609" y="217679"/>
                          <a:pt x="1962921" y="304183"/>
                        </a:cubicBezTo>
                        <a:cubicBezTo>
                          <a:pt x="1634612" y="470330"/>
                          <a:pt x="540842" y="462497"/>
                          <a:pt x="0" y="304183"/>
                        </a:cubicBezTo>
                        <a:cubicBezTo>
                          <a:pt x="-22267" y="236032"/>
                          <a:pt x="6852" y="119705"/>
                          <a:pt x="0" y="0"/>
                        </a:cubicBezTo>
                        <a:close/>
                      </a:path>
                      <a:path w="1962921" h="304183" stroke="0" extrusionOk="0">
                        <a:moveTo>
                          <a:pt x="0" y="0"/>
                        </a:moveTo>
                        <a:cubicBezTo>
                          <a:pt x="290691" y="88497"/>
                          <a:pt x="1209264" y="21227"/>
                          <a:pt x="1962921" y="0"/>
                        </a:cubicBezTo>
                        <a:cubicBezTo>
                          <a:pt x="1936180" y="122244"/>
                          <a:pt x="1971860" y="249644"/>
                          <a:pt x="1962921" y="304183"/>
                        </a:cubicBezTo>
                        <a:cubicBezTo>
                          <a:pt x="1599913" y="436741"/>
                          <a:pt x="617182" y="371899"/>
                          <a:pt x="0" y="304183"/>
                        </a:cubicBezTo>
                        <a:cubicBezTo>
                          <a:pt x="14546" y="222719"/>
                          <a:pt x="-21788" y="9620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Heart Rate</a:t>
            </a: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E6715960-B594-C412-7C66-4E7241E33C56}"/>
              </a:ext>
            </a:extLst>
          </p:cNvPr>
          <p:cNvSpPr txBox="1">
            <a:spLocks/>
          </p:cNvSpPr>
          <p:nvPr/>
        </p:nvSpPr>
        <p:spPr>
          <a:xfrm>
            <a:off x="405001" y="3506961"/>
            <a:ext cx="3545538" cy="695803"/>
          </a:xfrm>
          <a:prstGeom prst="rect">
            <a:avLst/>
          </a:prstGeom>
          <a:solidFill>
            <a:srgbClr val="FF7676"/>
          </a:solidFill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722793296">
                  <a:custGeom>
                    <a:avLst/>
                    <a:gdLst>
                      <a:gd name="connsiteX0" fmla="*/ 0 w 3545538"/>
                      <a:gd name="connsiteY0" fmla="*/ 0 h 473740"/>
                      <a:gd name="connsiteX1" fmla="*/ 3545538 w 3545538"/>
                      <a:gd name="connsiteY1" fmla="*/ 0 h 473740"/>
                      <a:gd name="connsiteX2" fmla="*/ 3545538 w 3545538"/>
                      <a:gd name="connsiteY2" fmla="*/ 473740 h 473740"/>
                      <a:gd name="connsiteX3" fmla="*/ 0 w 3545538"/>
                      <a:gd name="connsiteY3" fmla="*/ 473740 h 473740"/>
                      <a:gd name="connsiteX4" fmla="*/ 0 w 3545538"/>
                      <a:gd name="connsiteY4" fmla="*/ 0 h 473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545538" h="473740" fill="none" extrusionOk="0">
                        <a:moveTo>
                          <a:pt x="0" y="0"/>
                        </a:moveTo>
                        <a:cubicBezTo>
                          <a:pt x="870938" y="-168741"/>
                          <a:pt x="2415579" y="-73030"/>
                          <a:pt x="3545538" y="0"/>
                        </a:cubicBezTo>
                        <a:cubicBezTo>
                          <a:pt x="3568055" y="163824"/>
                          <a:pt x="3518107" y="297897"/>
                          <a:pt x="3545538" y="473740"/>
                        </a:cubicBezTo>
                        <a:cubicBezTo>
                          <a:pt x="2145202" y="371100"/>
                          <a:pt x="415294" y="510886"/>
                          <a:pt x="0" y="473740"/>
                        </a:cubicBezTo>
                        <a:cubicBezTo>
                          <a:pt x="30800" y="271782"/>
                          <a:pt x="21188" y="99979"/>
                          <a:pt x="0" y="0"/>
                        </a:cubicBezTo>
                        <a:close/>
                      </a:path>
                      <a:path w="3545538" h="473740" stroke="0" extrusionOk="0">
                        <a:moveTo>
                          <a:pt x="0" y="0"/>
                        </a:moveTo>
                        <a:cubicBezTo>
                          <a:pt x="552313" y="-22791"/>
                          <a:pt x="2525408" y="146802"/>
                          <a:pt x="3545538" y="0"/>
                        </a:cubicBezTo>
                        <a:cubicBezTo>
                          <a:pt x="3516467" y="93840"/>
                          <a:pt x="3519893" y="265436"/>
                          <a:pt x="3545538" y="473740"/>
                        </a:cubicBezTo>
                        <a:cubicBezTo>
                          <a:pt x="2189230" y="430626"/>
                          <a:pt x="553524" y="578465"/>
                          <a:pt x="0" y="473740"/>
                        </a:cubicBezTo>
                        <a:cubicBezTo>
                          <a:pt x="12307" y="249145"/>
                          <a:pt x="-3300" y="15927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Environmental factors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6D57A3FB-A686-9A94-26D0-94E2966AD212}"/>
              </a:ext>
            </a:extLst>
          </p:cNvPr>
          <p:cNvSpPr txBox="1">
            <a:spLocks/>
          </p:cNvSpPr>
          <p:nvPr/>
        </p:nvSpPr>
        <p:spPr>
          <a:xfrm>
            <a:off x="1306783" y="4603589"/>
            <a:ext cx="2686789" cy="5310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3840911337">
                  <a:custGeom>
                    <a:avLst/>
                    <a:gdLst>
                      <a:gd name="connsiteX0" fmla="*/ 0 w 2686789"/>
                      <a:gd name="connsiteY0" fmla="*/ 0 h 361598"/>
                      <a:gd name="connsiteX1" fmla="*/ 2686789 w 2686789"/>
                      <a:gd name="connsiteY1" fmla="*/ 0 h 361598"/>
                      <a:gd name="connsiteX2" fmla="*/ 2686789 w 2686789"/>
                      <a:gd name="connsiteY2" fmla="*/ 361598 h 361598"/>
                      <a:gd name="connsiteX3" fmla="*/ 0 w 2686789"/>
                      <a:gd name="connsiteY3" fmla="*/ 361598 h 361598"/>
                      <a:gd name="connsiteX4" fmla="*/ 0 w 2686789"/>
                      <a:gd name="connsiteY4" fmla="*/ 0 h 3615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86789" h="361598" fill="none" extrusionOk="0">
                        <a:moveTo>
                          <a:pt x="0" y="0"/>
                        </a:moveTo>
                        <a:cubicBezTo>
                          <a:pt x="513234" y="-130128"/>
                          <a:pt x="2283538" y="83998"/>
                          <a:pt x="2686789" y="0"/>
                        </a:cubicBezTo>
                        <a:cubicBezTo>
                          <a:pt x="2698586" y="99675"/>
                          <a:pt x="2682030" y="277525"/>
                          <a:pt x="2686789" y="361598"/>
                        </a:cubicBezTo>
                        <a:cubicBezTo>
                          <a:pt x="2057578" y="349654"/>
                          <a:pt x="1039942" y="362824"/>
                          <a:pt x="0" y="361598"/>
                        </a:cubicBezTo>
                        <a:cubicBezTo>
                          <a:pt x="29605" y="229585"/>
                          <a:pt x="14291" y="173009"/>
                          <a:pt x="0" y="0"/>
                        </a:cubicBezTo>
                        <a:close/>
                      </a:path>
                      <a:path w="2686789" h="361598" stroke="0" extrusionOk="0">
                        <a:moveTo>
                          <a:pt x="0" y="0"/>
                        </a:moveTo>
                        <a:cubicBezTo>
                          <a:pt x="1262938" y="-87629"/>
                          <a:pt x="1741867" y="156956"/>
                          <a:pt x="2686789" y="0"/>
                        </a:cubicBezTo>
                        <a:cubicBezTo>
                          <a:pt x="2709330" y="104462"/>
                          <a:pt x="2660206" y="251644"/>
                          <a:pt x="2686789" y="361598"/>
                        </a:cubicBezTo>
                        <a:cubicBezTo>
                          <a:pt x="2095406" y="486243"/>
                          <a:pt x="394449" y="527977"/>
                          <a:pt x="0" y="361598"/>
                        </a:cubicBezTo>
                        <a:cubicBezTo>
                          <a:pt x="18392" y="257129"/>
                          <a:pt x="23879" y="14810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Emotional State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7400B2DB-7E1A-1371-B14D-C224A9957A8E}"/>
              </a:ext>
            </a:extLst>
          </p:cNvPr>
          <p:cNvSpPr txBox="1">
            <a:spLocks/>
          </p:cNvSpPr>
          <p:nvPr/>
        </p:nvSpPr>
        <p:spPr>
          <a:xfrm>
            <a:off x="1628143" y="5622149"/>
            <a:ext cx="2365429" cy="69580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623038070">
                  <a:custGeom>
                    <a:avLst/>
                    <a:gdLst>
                      <a:gd name="connsiteX0" fmla="*/ 0 w 2365429"/>
                      <a:gd name="connsiteY0" fmla="*/ 0 h 473740"/>
                      <a:gd name="connsiteX1" fmla="*/ 2365429 w 2365429"/>
                      <a:gd name="connsiteY1" fmla="*/ 0 h 473740"/>
                      <a:gd name="connsiteX2" fmla="*/ 2365429 w 2365429"/>
                      <a:gd name="connsiteY2" fmla="*/ 473740 h 473740"/>
                      <a:gd name="connsiteX3" fmla="*/ 0 w 2365429"/>
                      <a:gd name="connsiteY3" fmla="*/ 473740 h 473740"/>
                      <a:gd name="connsiteX4" fmla="*/ 0 w 2365429"/>
                      <a:gd name="connsiteY4" fmla="*/ 0 h 473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65429" h="473740" fill="none" extrusionOk="0">
                        <a:moveTo>
                          <a:pt x="0" y="0"/>
                        </a:moveTo>
                        <a:cubicBezTo>
                          <a:pt x="1151730" y="91463"/>
                          <a:pt x="2036063" y="25958"/>
                          <a:pt x="2365429" y="0"/>
                        </a:cubicBezTo>
                        <a:cubicBezTo>
                          <a:pt x="2369741" y="141811"/>
                          <a:pt x="2398276" y="284386"/>
                          <a:pt x="2365429" y="473740"/>
                        </a:cubicBezTo>
                        <a:cubicBezTo>
                          <a:pt x="1946333" y="573293"/>
                          <a:pt x="820951" y="489874"/>
                          <a:pt x="0" y="473740"/>
                        </a:cubicBezTo>
                        <a:cubicBezTo>
                          <a:pt x="-33344" y="316875"/>
                          <a:pt x="-9838" y="178874"/>
                          <a:pt x="0" y="0"/>
                        </a:cubicBezTo>
                        <a:close/>
                      </a:path>
                      <a:path w="2365429" h="473740" stroke="0" extrusionOk="0">
                        <a:moveTo>
                          <a:pt x="0" y="0"/>
                        </a:moveTo>
                        <a:cubicBezTo>
                          <a:pt x="505555" y="-38100"/>
                          <a:pt x="2021799" y="19510"/>
                          <a:pt x="2365429" y="0"/>
                        </a:cubicBezTo>
                        <a:cubicBezTo>
                          <a:pt x="2331183" y="205235"/>
                          <a:pt x="2340191" y="369033"/>
                          <a:pt x="2365429" y="473740"/>
                        </a:cubicBezTo>
                        <a:cubicBezTo>
                          <a:pt x="1567274" y="423373"/>
                          <a:pt x="582275" y="488548"/>
                          <a:pt x="0" y="473740"/>
                        </a:cubicBezTo>
                        <a:cubicBezTo>
                          <a:pt x="-39947" y="298262"/>
                          <a:pt x="-10598" y="5834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Cognitive state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5653827-A4B3-682F-0ACC-F2A981870012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3950539" y="1768363"/>
            <a:ext cx="3107445" cy="21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DDB5E68-14A9-5B55-C529-F6C09A85175A}"/>
              </a:ext>
            </a:extLst>
          </p:cNvPr>
          <p:cNvCxnSpPr>
            <a:cxnSpLocks/>
            <a:stCxn id="14" idx="3"/>
            <a:endCxn id="8" idx="1"/>
          </p:cNvCxnSpPr>
          <p:nvPr/>
        </p:nvCxnSpPr>
        <p:spPr>
          <a:xfrm flipV="1">
            <a:off x="3952929" y="2840587"/>
            <a:ext cx="3105055" cy="193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867CF6A-3E97-1983-ADD2-72CF3869B672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>
            <a:off x="3950539" y="3854863"/>
            <a:ext cx="3107445" cy="96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C89C503-86A0-9EB9-0656-320BC8692F27}"/>
              </a:ext>
            </a:extLst>
          </p:cNvPr>
          <p:cNvCxnSpPr>
            <a:cxnSpLocks/>
            <a:stCxn id="16" idx="3"/>
            <a:endCxn id="11" idx="1"/>
          </p:cNvCxnSpPr>
          <p:nvPr/>
        </p:nvCxnSpPr>
        <p:spPr>
          <a:xfrm>
            <a:off x="3993572" y="4869137"/>
            <a:ext cx="3064412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4E47FD2-B1AE-824B-0520-5CA18A5521E4}"/>
              </a:ext>
            </a:extLst>
          </p:cNvPr>
          <p:cNvCxnSpPr>
            <a:cxnSpLocks/>
            <a:stCxn id="17" idx="3"/>
            <a:endCxn id="13" idx="1"/>
          </p:cNvCxnSpPr>
          <p:nvPr/>
        </p:nvCxnSpPr>
        <p:spPr>
          <a:xfrm flipV="1">
            <a:off x="3993572" y="5970050"/>
            <a:ext cx="3137110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itle 1">
            <a:extLst>
              <a:ext uri="{FF2B5EF4-FFF2-40B4-BE49-F238E27FC236}">
                <a16:creationId xmlns:a16="http://schemas.microsoft.com/office/drawing/2014/main" id="{77E486B9-89C6-0A49-859D-D78A3DF159F2}"/>
              </a:ext>
            </a:extLst>
          </p:cNvPr>
          <p:cNvSpPr txBox="1">
            <a:spLocks/>
          </p:cNvSpPr>
          <p:nvPr/>
        </p:nvSpPr>
        <p:spPr>
          <a:xfrm>
            <a:off x="521208" y="566928"/>
            <a:ext cx="11119104" cy="64008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CONCLUSION:</a:t>
            </a:r>
          </a:p>
        </p:txBody>
      </p:sp>
    </p:spTree>
    <p:extLst>
      <p:ext uri="{BB962C8B-B14F-4D97-AF65-F5344CB8AC3E}">
        <p14:creationId xmlns:p14="http://schemas.microsoft.com/office/powerpoint/2010/main" val="1567427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7FA792-7CC8-6C5F-8E4F-307FA211B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52" y="684325"/>
            <a:ext cx="4326096" cy="741353"/>
          </a:xfrm>
        </p:spPr>
        <p:txBody>
          <a:bodyPr>
            <a:noAutofit/>
          </a:bodyPr>
          <a:lstStyle/>
          <a:p>
            <a:r>
              <a:rPr lang="en-US" sz="4000" dirty="0"/>
              <a:t>THANK YOU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D6070869-402B-F0CE-748B-0BF0AE47078C}"/>
              </a:ext>
            </a:extLst>
          </p:cNvPr>
          <p:cNvSpPr txBox="1">
            <a:spLocks/>
          </p:cNvSpPr>
          <p:nvPr/>
        </p:nvSpPr>
        <p:spPr>
          <a:xfrm>
            <a:off x="9140150" y="630758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94A09A9-5501-47C1-A89A-A340965A2BE2}" type="slidenum">
              <a:rPr lang="en-US" sz="1400" smtClean="0">
                <a:solidFill>
                  <a:schemeClr val="bg2">
                    <a:lumMod val="50000"/>
                  </a:schemeClr>
                </a:solidFill>
                <a:cs typeface="Segoe UI" panose="020B0502040204020203" pitchFamily="34" charset="0"/>
              </a:rPr>
              <a:pPr algn="r"/>
              <a:t>13</a:t>
            </a:fld>
            <a:endParaRPr lang="en-US" sz="1400" dirty="0">
              <a:solidFill>
                <a:schemeClr val="bg2">
                  <a:lumMod val="50000"/>
                </a:schemeClr>
              </a:solidFill>
              <a:cs typeface="Segoe UI" panose="020B0502040204020203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6837620-71CB-8D39-D5A8-3814FDA2E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323" y="1395144"/>
            <a:ext cx="5728827" cy="509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378934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tutorial">
  <a:themeElements>
    <a:clrScheme name="Custom 27">
      <a:dk1>
        <a:srgbClr val="000000"/>
      </a:dk1>
      <a:lt1>
        <a:srgbClr val="FFFFFF"/>
      </a:lt1>
      <a:dk2>
        <a:srgbClr val="005F73"/>
      </a:dk2>
      <a:lt2>
        <a:srgbClr val="E7E6E6"/>
      </a:lt2>
      <a:accent1>
        <a:srgbClr val="6A205F"/>
      </a:accent1>
      <a:accent2>
        <a:srgbClr val="C74F66"/>
      </a:accent2>
      <a:accent3>
        <a:srgbClr val="C40C67"/>
      </a:accent3>
      <a:accent4>
        <a:srgbClr val="FF7675"/>
      </a:accent4>
      <a:accent5>
        <a:srgbClr val="0696D0"/>
      </a:accent5>
      <a:accent6>
        <a:srgbClr val="360070"/>
      </a:accent6>
      <a:hlink>
        <a:srgbClr val="0563C1"/>
      </a:hlink>
      <a:folHlink>
        <a:srgbClr val="954F72"/>
      </a:folHlink>
    </a:clrScheme>
    <a:fontScheme name="Custom 92">
      <a:majorFont>
        <a:latin typeface="Segoe UI Semibold"/>
        <a:ea typeface=""/>
        <a:cs typeface=""/>
      </a:majorFont>
      <a:minorFont>
        <a:latin typeface="Segoe UI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eling overwhelmed _Win32_CP_v13" id="{1F8CD036-E430-4435-85C3-9C882E43A90C}" vid="{161A3489-A5CE-4E5E-8AA9-B92631102B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7D4A114-614A-4F21-A975-61444CD3CFA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3CF614-6894-4A97-80E5-9F658EA3A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DD100F2-74DD-462C-BBFE-2504278ADF72}">
  <ds:schemaRefs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230e9df3-be65-4c73-a93b-d1236ebd677e"/>
    <ds:schemaRef ds:uri="http://schemas.microsoft.com/office/2006/documentManagement/types"/>
    <ds:schemaRef ds:uri="16c05727-aa75-4e4a-9b5f-8a80a1165891"/>
    <ds:schemaRef ds:uri="http://schemas.microsoft.com/office/2006/metadata/properties"/>
    <ds:schemaRef ds:uri="http://purl.org/dc/elements/1.1/"/>
    <ds:schemaRef ds:uri="71af3243-3dd4-4a8d-8c0d-dd76da1f02a5"/>
    <ds:schemaRef ds:uri="http://schemas.microsoft.com/sharepoint/v3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2128</TotalTime>
  <Words>755</Words>
  <Application>Microsoft Office PowerPoint</Application>
  <PresentationFormat>Widescreen</PresentationFormat>
  <Paragraphs>169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Inter</vt:lpstr>
      <vt:lpstr>Petrona Bold</vt:lpstr>
      <vt:lpstr>Segoe UI</vt:lpstr>
      <vt:lpstr>Segoe UI </vt:lpstr>
      <vt:lpstr>Wingdings</vt:lpstr>
      <vt:lpstr>powerpoint tutorial</vt:lpstr>
      <vt:lpstr>Exploring Physiological and Environmental Factors: Predicting Engagement Levels</vt:lpstr>
      <vt:lpstr>PowerPoint Presentation</vt:lpstr>
      <vt:lpstr>INTRODUCTION TO THE DATASET</vt:lpstr>
      <vt:lpstr>Statistical Methods</vt:lpstr>
      <vt:lpstr>Statistical Methods</vt:lpstr>
      <vt:lpstr>Comparing engagement levels across cognitive and emotional state</vt:lpstr>
      <vt:lpstr>HYPOTHESIS TESTING and ANOVA</vt:lpstr>
      <vt:lpstr>Simple Linear Regression</vt:lpstr>
      <vt:lpstr>Multiple Linear Regression</vt:lpstr>
      <vt:lpstr>Correlation Matrix</vt:lpstr>
      <vt:lpstr>Correlation Matrix</vt:lpstr>
      <vt:lpstr>Skin Conductance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Feeling overwhelmed</dc:title>
  <dc:creator>Tanvi Thopte</dc:creator>
  <cp:lastModifiedBy>Tanvi Thopte</cp:lastModifiedBy>
  <cp:revision>22</cp:revision>
  <dcterms:created xsi:type="dcterms:W3CDTF">2022-08-24T19:45:33Z</dcterms:created>
  <dcterms:modified xsi:type="dcterms:W3CDTF">2024-12-05T16:38:34Z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